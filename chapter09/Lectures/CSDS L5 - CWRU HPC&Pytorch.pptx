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BD2C93-3EFC-99E3-186E-8DB5570ADB40}" v="16" dt="2025-09-07T21:49:17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9"/>
    <p:restoredTop sz="94694"/>
  </p:normalViewPr>
  <p:slideViewPr>
    <p:cSldViewPr snapToGrid="0">
      <p:cViewPr varScale="1">
        <p:scale>
          <a:sx n="161" d="100"/>
          <a:sy n="161" d="100"/>
        </p:scale>
        <p:origin x="4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tay Tasci" userId="S::kxt437@case.edu::eaae0a8e-7b77-47c9-b475-6181fe1498be" providerId="AD" clId="Web-{F6BD2C93-3EFC-99E3-186E-8DB5570ADB40}"/>
    <pc:docChg chg="modSld">
      <pc:chgData name="Kutay Tasci" userId="S::kxt437@case.edu::eaae0a8e-7b77-47c9-b475-6181fe1498be" providerId="AD" clId="Web-{F6BD2C93-3EFC-99E3-186E-8DB5570ADB40}" dt="2025-09-07T21:49:17.084" v="15" actId="20577"/>
      <pc:docMkLst>
        <pc:docMk/>
      </pc:docMkLst>
      <pc:sldChg chg="modSp">
        <pc:chgData name="Kutay Tasci" userId="S::kxt437@case.edu::eaae0a8e-7b77-47c9-b475-6181fe1498be" providerId="AD" clId="Web-{F6BD2C93-3EFC-99E3-186E-8DB5570ADB40}" dt="2025-09-07T21:49:17.084" v="15" actId="20577"/>
        <pc:sldMkLst>
          <pc:docMk/>
          <pc:sldMk cId="0" sldId="256"/>
        </pc:sldMkLst>
        <pc:spChg chg="mod">
          <ac:chgData name="Kutay Tasci" userId="S::kxt437@case.edu::eaae0a8e-7b77-47c9-b475-6181fe1498be" providerId="AD" clId="Web-{F6BD2C93-3EFC-99E3-186E-8DB5570ADB40}" dt="2025-09-07T21:49:17.084" v="15" actId="20577"/>
          <ac:spMkLst>
            <pc:docMk/>
            <pc:sldMk cId="0" sldId="256"/>
            <ac:spMk id="4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78f964ce3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78f964ce3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3d8b86fa2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3d8b86fa23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3d8b86fa23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3d8b86fa23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3d8b86fa23_0_1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3d8b86fa23_0_1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3d8b86fa23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3d8b86fa23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3d8b86fa23_0_1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3d8b86fa23_0_1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d8b86fa23_0_1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d8b86fa23_0_1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3d8b86fa23_0_1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3d8b86fa23_0_1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d8b86fa23_0_1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d8b86fa23_0_1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d8b86fa23_0_1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d8b86fa23_0_1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3d8b86fa23_0_1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3d8b86fa23_0_1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3d8b86fa23_0_1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3d8b86fa23_0_1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3d8b86fa23_0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3d8b86fa23_0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3d8b86fa23_0_1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3d8b86fa23_0_1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d8b86fa23_0_1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3d8b86fa23_0_1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3d8b86fa23_0_1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3d8b86fa23_0_1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073763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100" y="500063"/>
            <a:ext cx="7759800" cy="36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0" y="4732735"/>
            <a:ext cx="9144000" cy="411000"/>
          </a:xfrm>
          <a:prstGeom prst="rect">
            <a:avLst/>
          </a:prstGeom>
          <a:solidFill>
            <a:srgbClr val="45556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30238" y="589360"/>
            <a:ext cx="7604100" cy="20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908425" y="2678906"/>
            <a:ext cx="4329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marR="0" lvl="0" indent="-342900" algn="l" rtl="0">
              <a:spcBef>
                <a:spcPts val="16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03187" marR="0" lvl="1" indent="-1587" algn="l" rtl="0">
              <a:spcBef>
                <a:spcPts val="160"/>
              </a:spcBef>
              <a:spcAft>
                <a:spcPts val="0"/>
              </a:spcAft>
              <a:buClr>
                <a:srgbClr val="00355F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406400" marR="0" lvl="2" indent="-101600" algn="l" rtl="0">
              <a:spcBef>
                <a:spcPts val="160"/>
              </a:spcBef>
              <a:spcAft>
                <a:spcPts val="0"/>
              </a:spcAft>
              <a:buSzPts val="16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614362" marR="0" lvl="3" indent="-106362" algn="l" rtl="0">
              <a:spcBef>
                <a:spcPts val="1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22325" marR="0" lvl="4" indent="-111125" algn="l" rtl="0">
              <a:spcBef>
                <a:spcPts val="12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9525" marR="0" lvl="5" indent="-111125" algn="l" rtl="0">
              <a:spcBef>
                <a:spcPts val="120"/>
              </a:spcBef>
              <a:spcAft>
                <a:spcPts val="0"/>
              </a:spcAft>
              <a:buSzPts val="10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736725" marR="0" lvl="6" indent="-111125" algn="l" rtl="0">
              <a:spcBef>
                <a:spcPts val="120"/>
              </a:spcBef>
              <a:spcAft>
                <a:spcPts val="0"/>
              </a:spcAft>
              <a:buSzPts val="10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193925" marR="0" lvl="7" indent="-111125" algn="l" rtl="0">
              <a:spcBef>
                <a:spcPts val="120"/>
              </a:spcBef>
              <a:spcAft>
                <a:spcPts val="0"/>
              </a:spcAft>
              <a:buSzPts val="10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51125" marR="0" lvl="8" indent="-111125" algn="l" rtl="0">
              <a:spcBef>
                <a:spcPts val="120"/>
              </a:spcBef>
              <a:spcAft>
                <a:spcPts val="120"/>
              </a:spcAft>
              <a:buSzPts val="10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/>
            </a:lvl1pPr>
            <a:lvl2pPr lvl="1" rtl="0">
              <a:buNone/>
              <a:defRPr sz="1600"/>
            </a:lvl2pPr>
            <a:lvl3pPr lvl="2" rtl="0">
              <a:buNone/>
              <a:defRPr sz="1600"/>
            </a:lvl3pPr>
            <a:lvl4pPr lvl="3" rtl="0">
              <a:buNone/>
              <a:defRPr sz="1600"/>
            </a:lvl4pPr>
            <a:lvl5pPr lvl="4" rtl="0">
              <a:buNone/>
              <a:defRPr sz="1600"/>
            </a:lvl5pPr>
            <a:lvl6pPr lvl="5" rtl="0">
              <a:buNone/>
              <a:defRPr sz="1600"/>
            </a:lvl6pPr>
            <a:lvl7pPr lvl="6" rtl="0">
              <a:buNone/>
              <a:defRPr sz="1600"/>
            </a:lvl7pPr>
            <a:lvl8pPr lvl="7" rtl="0">
              <a:buNone/>
              <a:defRPr sz="1600"/>
            </a:lvl8pPr>
            <a:lvl9pPr lvl="8" rtl="0">
              <a:buNone/>
              <a:defRPr sz="1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150" y="33338"/>
            <a:ext cx="88329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11150" y="488156"/>
            <a:ext cx="4208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rgbClr val="00355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672013" y="488156"/>
            <a:ext cx="4208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rgbClr val="00355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lt1"/>
                </a:solidFill>
              </a:defRPr>
            </a:lvl1pPr>
            <a:lvl2pPr lvl="1" algn="r" rtl="0">
              <a:buNone/>
              <a:defRPr sz="1300">
                <a:solidFill>
                  <a:schemeClr val="lt1"/>
                </a:solidFill>
              </a:defRPr>
            </a:lvl2pPr>
            <a:lvl3pPr lvl="2" algn="r" rtl="0">
              <a:buNone/>
              <a:defRPr sz="1300">
                <a:solidFill>
                  <a:schemeClr val="lt1"/>
                </a:solidFill>
              </a:defRPr>
            </a:lvl3pPr>
            <a:lvl4pPr lvl="3" algn="r" rtl="0">
              <a:buNone/>
              <a:defRPr sz="1300">
                <a:solidFill>
                  <a:schemeClr val="lt1"/>
                </a:solidFill>
              </a:defRPr>
            </a:lvl4pPr>
            <a:lvl5pPr lvl="4" algn="r" rtl="0">
              <a:buNone/>
              <a:defRPr sz="1300">
                <a:solidFill>
                  <a:schemeClr val="lt1"/>
                </a:solidFill>
              </a:defRPr>
            </a:lvl5pPr>
            <a:lvl6pPr lvl="5" algn="r" rtl="0">
              <a:buNone/>
              <a:defRPr sz="1300">
                <a:solidFill>
                  <a:schemeClr val="lt1"/>
                </a:solidFill>
              </a:defRPr>
            </a:lvl6pPr>
            <a:lvl7pPr lvl="6" algn="r" rtl="0">
              <a:buNone/>
              <a:defRPr sz="1300">
                <a:solidFill>
                  <a:schemeClr val="lt1"/>
                </a:solidFill>
              </a:defRPr>
            </a:lvl7pPr>
            <a:lvl8pPr lvl="7" algn="r" rtl="0">
              <a:buNone/>
              <a:defRPr sz="1300">
                <a:solidFill>
                  <a:schemeClr val="lt1"/>
                </a:solidFill>
              </a:defRPr>
            </a:lvl8pPr>
            <a:lvl9pPr lvl="8" algn="r" rtl="0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150" y="33338"/>
            <a:ext cx="8832900" cy="3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311150" y="488156"/>
            <a:ext cx="856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  <a:defRPr sz="18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150" y="33338"/>
            <a:ext cx="88329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2300" i="0" u="none" strike="noStrike" cap="none">
                <a:solidFill>
                  <a:srgbClr val="00355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311150" y="488156"/>
            <a:ext cx="856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18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tillium Web"/>
              <a:buChar char="•"/>
              <a:defRPr sz="18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sz="16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sz="12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Font typeface="Titillium Web"/>
              <a:buNone/>
              <a:defRPr sz="11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000"/>
              <a:buFont typeface="Titillium Web"/>
              <a:buNone/>
              <a:defRPr sz="10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000"/>
              <a:buFont typeface="Titillium Web"/>
              <a:buNone/>
              <a:defRPr sz="10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000"/>
              <a:buFont typeface="Titillium Web"/>
              <a:buNone/>
              <a:defRPr sz="10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000"/>
              <a:buFont typeface="Titillium Web"/>
              <a:buNone/>
              <a:defRPr sz="1000" i="0" u="none" strike="noStrike" cap="none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56775" y="4800550"/>
            <a:ext cx="548700" cy="3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buNone/>
              <a:defRPr sz="16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802981"/>
            <a:ext cx="9144000" cy="342900"/>
          </a:xfrm>
          <a:prstGeom prst="rect">
            <a:avLst/>
          </a:prstGeom>
          <a:solidFill>
            <a:srgbClr val="45556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150" y="33338"/>
            <a:ext cx="88329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035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150" y="488156"/>
            <a:ext cx="856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/>
            </a:lvl1pPr>
            <a:lvl2pPr marL="914400" marR="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  <a:defRPr sz="18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298450" y="463153"/>
            <a:ext cx="7186500" cy="0"/>
          </a:xfrm>
          <a:prstGeom prst="straightConnector1">
            <a:avLst/>
          </a:prstGeom>
          <a:noFill/>
          <a:ln w="19050" cap="flat" cmpd="sng">
            <a:solidFill>
              <a:srgbClr val="4555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lt1"/>
                </a:solidFill>
              </a:defRPr>
            </a:lvl1pPr>
            <a:lvl2pPr lvl="1" algn="r" rtl="0">
              <a:buNone/>
              <a:defRPr sz="1300">
                <a:solidFill>
                  <a:schemeClr val="lt1"/>
                </a:solidFill>
              </a:defRPr>
            </a:lvl2pPr>
            <a:lvl3pPr lvl="2" algn="r" rtl="0">
              <a:buNone/>
              <a:defRPr sz="1300">
                <a:solidFill>
                  <a:schemeClr val="lt1"/>
                </a:solidFill>
              </a:defRPr>
            </a:lvl3pPr>
            <a:lvl4pPr lvl="3" algn="r" rtl="0">
              <a:buNone/>
              <a:defRPr sz="1300">
                <a:solidFill>
                  <a:schemeClr val="lt1"/>
                </a:solidFill>
              </a:defRPr>
            </a:lvl4pPr>
            <a:lvl5pPr lvl="4" algn="r" rtl="0">
              <a:buNone/>
              <a:defRPr sz="1300">
                <a:solidFill>
                  <a:schemeClr val="lt1"/>
                </a:solidFill>
              </a:defRPr>
            </a:lvl5pPr>
            <a:lvl6pPr lvl="5" algn="r" rtl="0">
              <a:buNone/>
              <a:defRPr sz="1300">
                <a:solidFill>
                  <a:schemeClr val="lt1"/>
                </a:solidFill>
              </a:defRPr>
            </a:lvl6pPr>
            <a:lvl7pPr lvl="6" algn="r" rtl="0">
              <a:buNone/>
              <a:defRPr sz="1300">
                <a:solidFill>
                  <a:schemeClr val="lt1"/>
                </a:solidFill>
              </a:defRPr>
            </a:lvl7pPr>
            <a:lvl8pPr lvl="7" algn="r" rtl="0">
              <a:buNone/>
              <a:defRPr sz="1300">
                <a:solidFill>
                  <a:schemeClr val="lt1"/>
                </a:solidFill>
              </a:defRPr>
            </a:lvl8pPr>
            <a:lvl9pPr lvl="8" algn="r" rtl="0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078000" y="4830175"/>
            <a:ext cx="46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 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2" name="Google Shape;12;p1" descr="MSL-logo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800525"/>
            <a:ext cx="840000" cy="342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.case.edu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hyperlink" Target="https://ondemand-pioneer.case.edu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a/case.edu/hpcc/hpc-cluster/hardware/cluster-resourc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a/case.edu/hpcc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aircAruvnKk&amp;themeRefresh=1" TargetMode="External"/><Relationship Id="rId4" Type="http://schemas.openxmlformats.org/officeDocument/2006/relationships/hyperlink" Target="https://pytorch.org/tutorials/beginner/deep_learning_60min_blit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ctrTitle"/>
          </p:nvPr>
        </p:nvSpPr>
        <p:spPr>
          <a:xfrm>
            <a:off x="630238" y="589360"/>
            <a:ext cx="7604100" cy="20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"/>
              <a:t>CSDS 451</a:t>
            </a:r>
            <a:endParaRPr/>
          </a:p>
          <a:p>
            <a:pPr marL="0" lvl="0" indent="0" algn="ctr" rtl="0">
              <a:spcBef>
                <a:spcPts val="280"/>
              </a:spcBef>
              <a:spcAft>
                <a:spcPts val="280"/>
              </a:spcAft>
              <a:buNone/>
            </a:pPr>
            <a:r>
              <a:rPr lang="en"/>
              <a:t>Practice 1 - CWRU HPC &amp; PyTorch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3908425" y="2678906"/>
            <a:ext cx="43290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160"/>
              </a:spcBef>
              <a:spcAft>
                <a:spcPts val="0"/>
              </a:spcAft>
              <a:buNone/>
            </a:pPr>
            <a:r>
              <a:rPr lang="en" dirty="0"/>
              <a:t>09/05/2024</a:t>
            </a:r>
            <a:endParaRPr dirty="0"/>
          </a:p>
          <a:p>
            <a:pPr>
              <a:spcAft>
                <a:spcPts val="160"/>
              </a:spcAft>
            </a:pPr>
            <a:r>
              <a:rPr lang="en" dirty="0"/>
              <a:t>By Changxin Li</a:t>
            </a:r>
          </a:p>
          <a:p>
            <a:pPr>
              <a:spcAft>
                <a:spcPts val="160"/>
              </a:spcAft>
            </a:pPr>
            <a:r>
              <a:rPr lang="en" dirty="0"/>
              <a:t>Acknowledgement by Nat Tomczak</a:t>
            </a:r>
          </a:p>
        </p:txBody>
      </p:sp>
      <p:pic>
        <p:nvPicPr>
          <p:cNvPr id="42" name="Google Shape;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575" y="1604910"/>
            <a:ext cx="2193142" cy="219314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/>
        </p:nvSpPr>
        <p:spPr>
          <a:xfrm>
            <a:off x="739106" y="46751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https://pytorch.org/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311700" y="602875"/>
            <a:ext cx="8520600" cy="39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Programming Assignment #0 → September 5th, 2024.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>
                <a:highlight>
                  <a:srgbClr val="FFFF00"/>
                </a:highlight>
              </a:rPr>
              <a:t>Follow instructions, you can double check and resubmit.</a:t>
            </a:r>
            <a:endParaRPr b="1" dirty="0">
              <a:highlight>
                <a:srgbClr val="FFFF00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Writing Assignment #1 → Will be assigned today.</a:t>
            </a:r>
            <a:endParaRPr b="1" dirty="0"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311700" y="602875"/>
            <a:ext cx="8520600" cy="39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You’ll learn how to: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 CWRU’s HPC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the module system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your own Python virtual environment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programs using HPC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Tensors in PyTorch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a basic model in PyTorch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CWRU HPC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311700" y="641025"/>
            <a:ext cx="4595100" cy="39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Resource managed by U-Tech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Offers: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Cloud storage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7,000+ processors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60+ GPU nodes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Runs Red Hat Linux (either 7/8)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Little global customization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will be tied to Professor Kuppannagari’s account for this course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68" name="Google Shape;6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200" y="941950"/>
            <a:ext cx="3961950" cy="325960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434306" y="4751381"/>
            <a:ext cx="386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https://case.edu/utech/departments/research-computing/services\</a:t>
            </a:r>
            <a:endParaRPr sz="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https://sites.google.com/a/case.edu/hpcc/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The HPC</a:t>
            </a: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>
            <a:off x="311700" y="633400"/>
            <a:ext cx="6129000" cy="39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SSH </a:t>
            </a:r>
            <a:r>
              <a:rPr lang="en" i="1"/>
              <a:t>(most OSes have a client pre-installed)</a:t>
            </a:r>
            <a:endParaRPr i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will need to use a VPN (e.g. FortiClient)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 be on campus.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Open a terminal of your choice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Type the following: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ssh &lt;CaseID&gt;@&lt;Cluster&gt;.case.edu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prompted on whether or not you wish to access the system, input “yes”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Input your password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should now be connected to one of the clusters: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/>
              <a:t>Markov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Pioneer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Rider</a:t>
            </a: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2375" y="969175"/>
            <a:ext cx="2873450" cy="29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The HPC - Continued</a:t>
            </a: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>
            <a:off x="311700" y="641025"/>
            <a:ext cx="5434800" cy="39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OnDemand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Sign in to either of the following (server-dependent) to access the HPC: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https://ondemand.case.edu/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https://ondemand-pioneer.case.edu/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Hover over the “Clusters” tab and choose the shell specific to the server that you wish to access.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0200" y="2071688"/>
            <a:ext cx="241935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Controlling Node Resources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610500"/>
            <a:ext cx="8520600" cy="39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You can check resource usage here: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https://sites.google.com/a/case.edu/hpcc/hpc-cluster/hardware/cluster-resources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In order to allocate yourself a single node with specific resource amounts, enter the following in your terminal once you’ve accessed the server: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>
                <a:highlight>
                  <a:srgbClr val="FFFF00"/>
                </a:highlight>
              </a:rPr>
              <a:t>The following is one command</a:t>
            </a:r>
            <a:endParaRPr i="1" dirty="0">
              <a:highlight>
                <a:srgbClr val="FFFF00"/>
              </a:highlight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 dirty="0" err="1">
                <a:latin typeface="Roboto Mono"/>
                <a:ea typeface="Roboto Mono"/>
                <a:cs typeface="Roboto Mono"/>
                <a:sym typeface="Roboto Mono"/>
              </a:rPr>
              <a:t>srun</a:t>
            </a: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 -A &lt;Account&gt; -p &lt;Partition&gt; --</a:t>
            </a:r>
            <a:r>
              <a:rPr lang="en" b="1" dirty="0" err="1">
                <a:latin typeface="Roboto Mono"/>
                <a:ea typeface="Roboto Mono"/>
                <a:cs typeface="Roboto Mono"/>
                <a:sym typeface="Roboto Mono"/>
              </a:rPr>
              <a:t>gpus</a:t>
            </a: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=&lt;GPU#&gt; 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-c &lt;Core#&gt; --mem=&lt;Memory#&gt;&lt;Unit&gt; --</a:t>
            </a:r>
            <a:r>
              <a:rPr lang="en" b="1" dirty="0" err="1">
                <a:latin typeface="Roboto Mono"/>
                <a:ea typeface="Roboto Mono"/>
                <a:cs typeface="Roboto Mono"/>
                <a:sym typeface="Roboto Mono"/>
              </a:rPr>
              <a:t>pty</a:t>
            </a: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 /bin/bash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-A sxk1942_csds451 </a:t>
            </a:r>
            <a:r>
              <a:rPr lang="en" b="1" dirty="0"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→ </a:t>
            </a:r>
            <a:r>
              <a:rPr lang="en-US" b="1" dirty="0"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Ready </a:t>
            </a:r>
            <a:endParaRPr b="1" dirty="0"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>
              <a:buFont typeface="Roboto Mono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CPU example: </a:t>
            </a:r>
          </a:p>
          <a:p>
            <a:pPr marL="139700" indent="0"/>
            <a:r>
              <a:rPr lang="en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srun</a:t>
            </a:r>
            <a:r>
              <a:rPr lang="en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-A sxk1942_csds451 -p </a:t>
            </a:r>
            <a:r>
              <a:rPr lang="en-US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arkov_cpu</a:t>
            </a:r>
            <a:r>
              <a:rPr lang="en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-c 4 --mem=32gb --</a:t>
            </a:r>
            <a:r>
              <a:rPr lang="en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pty</a:t>
            </a:r>
            <a:r>
              <a:rPr lang="en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bash</a:t>
            </a:r>
            <a:r>
              <a:rPr lang="en-US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139700" indent="0"/>
            <a:r>
              <a:rPr lang="en-US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srun</a:t>
            </a:r>
            <a:r>
              <a:rPr lang="en-US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-A sxk1942_csds451 -p </a:t>
            </a:r>
            <a:r>
              <a:rPr lang="en-US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markov_gpu</a:t>
            </a:r>
            <a:r>
              <a:rPr lang="en-US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--</a:t>
            </a:r>
            <a:r>
              <a:rPr lang="en-US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gres</a:t>
            </a:r>
            <a:r>
              <a:rPr lang="en-US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=gpu:1 --</a:t>
            </a:r>
            <a:r>
              <a:rPr lang="en-US" sz="1150" dirty="0" err="1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pty</a:t>
            </a:r>
            <a:r>
              <a:rPr lang="en-US" sz="1150" dirty="0">
                <a:solidFill>
                  <a:srgbClr val="F0F0F0"/>
                </a:solidFill>
                <a:highlight>
                  <a:srgbClr val="101010"/>
                </a:highlight>
                <a:latin typeface="Courier New"/>
                <a:ea typeface="Courier New"/>
                <a:cs typeface="Courier New"/>
                <a:sym typeface="Courier New"/>
              </a:rPr>
              <a:t> bash</a:t>
            </a:r>
            <a:endParaRPr b="1" dirty="0"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 dirty="0"/>
              <a:t>“</a:t>
            </a:r>
            <a:r>
              <a:rPr lang="en" b="1" dirty="0"/>
              <a:t>Ctrl + d</a:t>
            </a:r>
            <a:r>
              <a:rPr lang="en" dirty="0"/>
              <a:t>” will allow you to exit your environment and disconnect from the node.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Repeat again to disconnect from the HPC.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exit </a:t>
            </a:r>
            <a:r>
              <a:rPr lang="en" dirty="0"/>
              <a:t>and </a:t>
            </a:r>
            <a:r>
              <a:rPr lang="en" b="1" dirty="0"/>
              <a:t>logout</a:t>
            </a:r>
            <a:r>
              <a:rPr lang="en" dirty="0"/>
              <a:t> also work.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Commands To Navigate A Terminal With The Bash Shell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311700" y="602875"/>
            <a:ext cx="8520600" cy="39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You should automatically have a Bash shell environment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Common commands to navigate using the command line: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 err="1"/>
              <a:t>pwd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ls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cd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touch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 err="1"/>
              <a:t>mkdir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rm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 err="1"/>
              <a:t>rmdir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vi</a:t>
            </a:r>
            <a:r>
              <a:rPr lang="en" dirty="0"/>
              <a:t> (or </a:t>
            </a:r>
            <a:r>
              <a:rPr lang="en" b="1" dirty="0"/>
              <a:t>vim</a:t>
            </a:r>
            <a:r>
              <a:rPr lang="en" dirty="0"/>
              <a:t>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cat</a:t>
            </a:r>
            <a:endParaRPr b="1" dirty="0"/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025" y="981950"/>
            <a:ext cx="2991625" cy="5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Lmod - Environment Modules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1"/>
          </p:nvPr>
        </p:nvSpPr>
        <p:spPr>
          <a:xfrm>
            <a:off x="311700" y="602875"/>
            <a:ext cx="8520600" cy="39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 err="1"/>
              <a:t>Lmod</a:t>
            </a:r>
            <a:r>
              <a:rPr lang="en" dirty="0"/>
              <a:t> is a system that allows you to customize your environment (packages, compilers, etc.).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Commands: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module list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List the modules already loaded.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module avail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List all available modules.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module load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Load a specific module.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module unload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Unload a specific module.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module spider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/>
              <a:t>Loadable modules/information.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Python Virtual Environment</a:t>
            </a:r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311700" y="587600"/>
            <a:ext cx="5671800" cy="39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will be using the built in virtual environment for this tutorial, but you may use miniconda if you prefer it for package management.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We’ll begin by loading our desired version of Python using the module system.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module load Python/3.xx.xx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>
                <a:highlight>
                  <a:srgbClr val="FFFF00"/>
                </a:highlight>
              </a:rPr>
              <a:t>You must do this each time before activating your environment.</a:t>
            </a:r>
            <a:endParaRPr>
              <a:highlight>
                <a:srgbClr val="FFFF00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Check your version with the following: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python3 --version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a virtual environment with: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python3 -m venv &lt;Path&gt;\&lt;VEnvName&gt;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0400" y="913450"/>
            <a:ext cx="3213650" cy="6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34306" y="47513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https://docs.conda.io/en/latest/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Activating And Maintaining Your Virtual Environment</a:t>
            </a:r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311700" y="595250"/>
            <a:ext cx="6960900" cy="39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After loading your Python module, enter the following: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source &lt;PATH&gt;/&lt;VEnvName&gt;/bin/activate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exit the virtual environment using: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deactivate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Once activated: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pip list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will show you all python packages that are available.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order to install more: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○"/>
            </a:pP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pip install &lt;PackageName&gt;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It is best to look up a package and check the current version to see if it is compatible with your version of Python. </a:t>
            </a:r>
            <a:endParaRPr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If not, find the specific version and specify it within your install command.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34306" y="47513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https://www.python.org/</a:t>
            </a:r>
            <a:endParaRPr sz="600">
              <a:solidFill>
                <a:schemeClr val="lt1"/>
              </a:solidFill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625" y="3928575"/>
            <a:ext cx="27622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PyTorch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311700" y="610500"/>
            <a:ext cx="7044900" cy="39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PyTorch is a Python frontend to the Torch library.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Machine learning framework.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Developed by Meta and first released in 2016.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Now governed by the PyTorch Foundation (under the Linux Foundation).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by many major companies including Tesla and Uber.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be used by only CPU hardware: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Is compatible with accelerators:</a:t>
            </a:r>
            <a:endParaRPr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GPU</a:t>
            </a:r>
            <a:endParaRPr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TPU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900" y="1967650"/>
            <a:ext cx="2770452" cy="277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464718" y="47513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https://pytorch.org/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311700" y="514850"/>
            <a:ext cx="8520600" cy="39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Tensors are the most basic class within PyTorch.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can do basic operations.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There is even an auto gradient feature.</a:t>
            </a:r>
            <a:endParaRPr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very useful for deep learning.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tensor is an N-dimensional object that operates as a multilinear map.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75" y="2179575"/>
            <a:ext cx="6664649" cy="23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Tensors</a:t>
            </a:r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64718" y="47513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https://furkangulsen.medium.com/what-is-a-tensor-ce8e78835d08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Tensors To Neural Networks</a:t>
            </a: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311700" y="641025"/>
            <a:ext cx="8520600" cy="39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a neural network?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50" y="1068475"/>
            <a:ext cx="7277102" cy="36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64718" y="47513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https://www.tibco.com/reference-center/what-is-a-neural-network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From Tensors To Neural Networks - Continued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311700" y="610500"/>
            <a:ext cx="5388900" cy="39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know that a layer of a fully-connected neural network can be written as: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169" name="Google Shape;169;p21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 l="9403" r="67105" b="19607"/>
          <a:stretch/>
        </p:blipFill>
        <p:spPr>
          <a:xfrm>
            <a:off x="6509525" y="820388"/>
            <a:ext cx="2022276" cy="35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450" y="1351854"/>
            <a:ext cx="5699925" cy="32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464718" y="4751381"/>
            <a:ext cx="386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https://www.cs.toronto.edu/~lczhang/360/lec/w02/terms.html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438500" y="2415425"/>
            <a:ext cx="1446900" cy="674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From Tensors To Neural Networks - Continued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1"/>
          </p:nvPr>
        </p:nvSpPr>
        <p:spPr>
          <a:xfrm>
            <a:off x="311700" y="648650"/>
            <a:ext cx="8520600" cy="39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means that we can translate the connected image to a mathematical operation: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Fully-connected layers (minus the bias and activation function) are simply matrix multiplications.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Other types of layers are more complex, but they are just mapping the input tensor to new vector spaces.</a:t>
            </a:r>
            <a:endParaRPr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This is the basis for machine learning.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22"/>
          <p:cNvPicPr preferRelativeResize="0"/>
          <p:nvPr/>
        </p:nvPicPr>
        <p:blipFill rotWithShape="1">
          <a:blip r:embed="rId3">
            <a:alphaModFix/>
          </a:blip>
          <a:srcRect l="9403" r="67105" b="19607"/>
          <a:stretch/>
        </p:blipFill>
        <p:spPr>
          <a:xfrm>
            <a:off x="2007050" y="1163792"/>
            <a:ext cx="702076" cy="1216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2"/>
          <p:cNvCxnSpPr/>
          <p:nvPr/>
        </p:nvCxnSpPr>
        <p:spPr>
          <a:xfrm>
            <a:off x="2938050" y="1778100"/>
            <a:ext cx="427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5" name="Google Shape;185;p22"/>
          <p:cNvGrpSpPr/>
          <p:nvPr/>
        </p:nvGrpSpPr>
        <p:grpSpPr>
          <a:xfrm>
            <a:off x="3655400" y="1423663"/>
            <a:ext cx="548887" cy="708863"/>
            <a:chOff x="3655400" y="1221000"/>
            <a:chExt cx="548887" cy="708863"/>
          </a:xfrm>
        </p:grpSpPr>
        <p:sp>
          <p:nvSpPr>
            <p:cNvPr id="186" name="Google Shape;186;p22"/>
            <p:cNvSpPr/>
            <p:nvPr/>
          </p:nvSpPr>
          <p:spPr>
            <a:xfrm>
              <a:off x="3655400" y="1221000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3845843" y="1221000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036287" y="1221000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3655400" y="1403925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3845843" y="1403925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4036287" y="1403925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3655400" y="1586850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3845843" y="1586850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4036287" y="1586850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>
              <a:off x="3655400" y="1769663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>
              <a:off x="3845843" y="1769663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>
              <a:off x="4036287" y="1769663"/>
              <a:ext cx="168000" cy="160200"/>
            </a:xfrm>
            <a:prstGeom prst="rect">
              <a:avLst/>
            </a:prstGeom>
            <a:solidFill>
              <a:srgbClr val="80BC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22"/>
          <p:cNvGrpSpPr/>
          <p:nvPr/>
        </p:nvGrpSpPr>
        <p:grpSpPr>
          <a:xfrm>
            <a:off x="4821625" y="1515075"/>
            <a:ext cx="168000" cy="526050"/>
            <a:chOff x="4569800" y="1221000"/>
            <a:chExt cx="168000" cy="526050"/>
          </a:xfrm>
        </p:grpSpPr>
        <p:sp>
          <p:nvSpPr>
            <p:cNvPr id="199" name="Google Shape;199;p22"/>
            <p:cNvSpPr/>
            <p:nvPr/>
          </p:nvSpPr>
          <p:spPr>
            <a:xfrm>
              <a:off x="4569800" y="1221000"/>
              <a:ext cx="168000" cy="160200"/>
            </a:xfrm>
            <a:prstGeom prst="rect">
              <a:avLst/>
            </a:prstGeom>
            <a:solidFill>
              <a:srgbClr val="FFA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4569800" y="1403925"/>
              <a:ext cx="168000" cy="160200"/>
            </a:xfrm>
            <a:prstGeom prst="rect">
              <a:avLst/>
            </a:prstGeom>
            <a:solidFill>
              <a:srgbClr val="FFA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4569800" y="1586850"/>
              <a:ext cx="168000" cy="160200"/>
            </a:xfrm>
            <a:prstGeom prst="rect">
              <a:avLst/>
            </a:prstGeom>
            <a:solidFill>
              <a:srgbClr val="FFA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22"/>
          <p:cNvSpPr txBox="1"/>
          <p:nvPr/>
        </p:nvSpPr>
        <p:spPr>
          <a:xfrm>
            <a:off x="3754720" y="108365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</a:t>
            </a:r>
            <a:endParaRPr b="1"/>
          </a:p>
        </p:txBody>
      </p:sp>
      <p:sp>
        <p:nvSpPr>
          <p:cNvPr id="203" name="Google Shape;203;p22"/>
          <p:cNvSpPr txBox="1"/>
          <p:nvPr/>
        </p:nvSpPr>
        <p:spPr>
          <a:xfrm>
            <a:off x="4745320" y="108365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X</a:t>
            </a:r>
            <a:endParaRPr b="1"/>
          </a:p>
        </p:txBody>
      </p:sp>
      <p:sp>
        <p:nvSpPr>
          <p:cNvPr id="204" name="Google Shape;204;p22"/>
          <p:cNvSpPr txBox="1"/>
          <p:nvPr/>
        </p:nvSpPr>
        <p:spPr>
          <a:xfrm>
            <a:off x="4326163" y="1487544"/>
            <a:ext cx="274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●</a:t>
            </a:r>
            <a:endParaRPr sz="3100" b="1"/>
          </a:p>
        </p:txBody>
      </p:sp>
      <p:sp>
        <p:nvSpPr>
          <p:cNvPr id="205" name="Google Shape;205;p22"/>
          <p:cNvSpPr txBox="1"/>
          <p:nvPr/>
        </p:nvSpPr>
        <p:spPr>
          <a:xfrm>
            <a:off x="5197144" y="1501050"/>
            <a:ext cx="27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=</a:t>
            </a:r>
            <a:endParaRPr sz="2400" b="1"/>
          </a:p>
        </p:txBody>
      </p:sp>
      <p:sp>
        <p:nvSpPr>
          <p:cNvPr id="206" name="Google Shape;206;p22"/>
          <p:cNvSpPr txBox="1"/>
          <p:nvPr/>
        </p:nvSpPr>
        <p:spPr>
          <a:xfrm>
            <a:off x="5784756" y="1495855"/>
            <a:ext cx="3228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/>
              <a:t>W     X</a:t>
            </a:r>
            <a:endParaRPr sz="2300" b="1"/>
          </a:p>
        </p:txBody>
      </p:sp>
      <p:sp>
        <p:nvSpPr>
          <p:cNvPr id="207" name="Google Shape;207;p22"/>
          <p:cNvSpPr txBox="1"/>
          <p:nvPr/>
        </p:nvSpPr>
        <p:spPr>
          <a:xfrm>
            <a:off x="6200525" y="1540963"/>
            <a:ext cx="27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●</a:t>
            </a:r>
            <a:endParaRPr sz="24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311700" y="-5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311700" y="579975"/>
            <a:ext cx="8520600" cy="39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CWRU HPC: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https://sites.google.com/a/case.edu/hpcc/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PyTorch &amp; Deep Learning: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https://pytorch.org/tutorials/beginner/deep_learning_60min_blitz.html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Neural Networks: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https://www.youtube.com/watch?v=aircAruvnKk&amp;themeRefresh=1</a:t>
            </a:r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sldNum" idx="12"/>
          </p:nvPr>
        </p:nvSpPr>
        <p:spPr>
          <a:xfrm>
            <a:off x="8472458" y="478531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480775" y="4800588"/>
            <a:ext cx="396900" cy="35850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UV-SDLE-MSL-1708">
  <a:themeElements>
    <a:clrScheme name="">
      <a:dk1>
        <a:srgbClr val="003366"/>
      </a:dk1>
      <a:lt1>
        <a:srgbClr val="FFFFFF"/>
      </a:lt1>
      <a:dk2>
        <a:srgbClr val="00355F"/>
      </a:dk2>
      <a:lt2>
        <a:srgbClr val="CCFFFF"/>
      </a:lt2>
      <a:accent1>
        <a:srgbClr val="3366CC"/>
      </a:accent1>
      <a:accent2>
        <a:srgbClr val="00B000"/>
      </a:accent2>
      <a:accent3>
        <a:srgbClr val="AAAEB6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1129</Words>
  <Application>Microsoft Office PowerPoint</Application>
  <PresentationFormat>On-screen Show (16:9)</PresentationFormat>
  <Paragraphs>178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VUV-SDLE-MSL-1708</vt:lpstr>
      <vt:lpstr>CSDS 451 Practice 1 - CWRU HPC &amp; PyTorch</vt:lpstr>
      <vt:lpstr>Important</vt:lpstr>
      <vt:lpstr>Outline</vt:lpstr>
      <vt:lpstr>CWRU HPC</vt:lpstr>
      <vt:lpstr>Accessing The HPC</vt:lpstr>
      <vt:lpstr>Accessing The HPC - Continued</vt:lpstr>
      <vt:lpstr>Controlling Node Resources</vt:lpstr>
      <vt:lpstr>Commands To Navigate A Terminal With The Bash Shell</vt:lpstr>
      <vt:lpstr>Lmod - Environment Modules</vt:lpstr>
      <vt:lpstr>Setting Up A Python Virtual Environment</vt:lpstr>
      <vt:lpstr>Activating And Maintaining Your Virtual Environment</vt:lpstr>
      <vt:lpstr>Introduction To PyTorch</vt:lpstr>
      <vt:lpstr>Tensors</vt:lpstr>
      <vt:lpstr>From Tensors To Neural Networks</vt:lpstr>
      <vt:lpstr>From Tensors To Neural Networks - Continued</vt:lpstr>
      <vt:lpstr>From Tensors To Neural Networks - Continued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李 常鑫</cp:lastModifiedBy>
  <cp:revision>13</cp:revision>
  <dcterms:modified xsi:type="dcterms:W3CDTF">2025-09-07T21:49:26Z</dcterms:modified>
</cp:coreProperties>
</file>