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261" r:id="rId3"/>
    <p:sldId id="289" r:id="rId4"/>
    <p:sldId id="290" r:id="rId5"/>
    <p:sldId id="345" r:id="rId6"/>
    <p:sldId id="346" r:id="rId7"/>
    <p:sldId id="344" r:id="rId8"/>
    <p:sldId id="347" r:id="rId9"/>
    <p:sldId id="291" r:id="rId10"/>
    <p:sldId id="389" r:id="rId11"/>
    <p:sldId id="348" r:id="rId12"/>
    <p:sldId id="349" r:id="rId13"/>
    <p:sldId id="350" r:id="rId14"/>
    <p:sldId id="352" r:id="rId15"/>
    <p:sldId id="298" r:id="rId16"/>
    <p:sldId id="354" r:id="rId17"/>
    <p:sldId id="351" r:id="rId18"/>
    <p:sldId id="355" r:id="rId19"/>
    <p:sldId id="356" r:id="rId20"/>
    <p:sldId id="353" r:id="rId21"/>
    <p:sldId id="357" r:id="rId22"/>
    <p:sldId id="361" r:id="rId23"/>
    <p:sldId id="362" r:id="rId24"/>
    <p:sldId id="358" r:id="rId25"/>
    <p:sldId id="363" r:id="rId26"/>
    <p:sldId id="359" r:id="rId27"/>
    <p:sldId id="301" r:id="rId28"/>
    <p:sldId id="366" r:id="rId29"/>
    <p:sldId id="379" r:id="rId30"/>
    <p:sldId id="364" r:id="rId31"/>
    <p:sldId id="365" r:id="rId32"/>
    <p:sldId id="390" r:id="rId33"/>
    <p:sldId id="391" r:id="rId34"/>
    <p:sldId id="392" r:id="rId35"/>
    <p:sldId id="393" r:id="rId36"/>
    <p:sldId id="394" r:id="rId37"/>
    <p:sldId id="395" r:id="rId38"/>
    <p:sldId id="396" r:id="rId39"/>
    <p:sldId id="367" r:id="rId40"/>
    <p:sldId id="360" r:id="rId41"/>
    <p:sldId id="368" r:id="rId42"/>
    <p:sldId id="369" r:id="rId43"/>
    <p:sldId id="371" r:id="rId44"/>
    <p:sldId id="370" r:id="rId45"/>
    <p:sldId id="302" r:id="rId46"/>
    <p:sldId id="374" r:id="rId47"/>
    <p:sldId id="303" r:id="rId48"/>
    <p:sldId id="372" r:id="rId49"/>
    <p:sldId id="373" r:id="rId50"/>
    <p:sldId id="397" r:id="rId51"/>
    <p:sldId id="375" r:id="rId52"/>
    <p:sldId id="377" r:id="rId53"/>
    <p:sldId id="376" r:id="rId54"/>
    <p:sldId id="378" r:id="rId55"/>
    <p:sldId id="380" r:id="rId56"/>
    <p:sldId id="381" r:id="rId57"/>
    <p:sldId id="382" r:id="rId58"/>
    <p:sldId id="384" r:id="rId59"/>
    <p:sldId id="383" r:id="rId60"/>
    <p:sldId id="385" r:id="rId61"/>
    <p:sldId id="309" r:id="rId62"/>
    <p:sldId id="387" r:id="rId63"/>
    <p:sldId id="388" r:id="rId64"/>
    <p:sldId id="288" r:id="rId65"/>
    <p:sldId id="287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99E0C-C93F-407A-BBCD-0493B581EF1A}" v="9" dt="2025-08-28T14:17:33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96F99E0C-C93F-407A-BBCD-0493B581EF1A}"/>
    <pc:docChg chg="custSel addSld delSld modSld">
      <pc:chgData name="Sanmukh Kuppannagari" userId="ad215094-da36-4b66-9c79-369a17aea26b" providerId="ADAL" clId="{96F99E0C-C93F-407A-BBCD-0493B581EF1A}" dt="2025-08-28T16:33:15.734" v="1332" actId="5793"/>
      <pc:docMkLst>
        <pc:docMk/>
      </pc:docMkLst>
      <pc:sldChg chg="modSp mod">
        <pc:chgData name="Sanmukh Kuppannagari" userId="ad215094-da36-4b66-9c79-369a17aea26b" providerId="ADAL" clId="{96F99E0C-C93F-407A-BBCD-0493B581EF1A}" dt="2025-08-28T12:42:56.690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96F99E0C-C93F-407A-BBCD-0493B581EF1A}" dt="2025-08-28T12:42:56.690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96F99E0C-C93F-407A-BBCD-0493B581EF1A}" dt="2025-08-28T14:20:52.224" v="972" actId="20577"/>
        <pc:sldMkLst>
          <pc:docMk/>
          <pc:sldMk cId="2158303791" sldId="288"/>
        </pc:sldMkLst>
        <pc:spChg chg="mod">
          <ac:chgData name="Sanmukh Kuppannagari" userId="ad215094-da36-4b66-9c79-369a17aea26b" providerId="ADAL" clId="{96F99E0C-C93F-407A-BBCD-0493B581EF1A}" dt="2025-08-28T14:20:52.224" v="972" actId="20577"/>
          <ac:spMkLst>
            <pc:docMk/>
            <pc:sldMk cId="2158303791" sldId="288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96F99E0C-C93F-407A-BBCD-0493B581EF1A}" dt="2025-08-28T12:50:57.500" v="18" actId="20577"/>
        <pc:sldMkLst>
          <pc:docMk/>
          <pc:sldMk cId="1860245702" sldId="291"/>
        </pc:sldMkLst>
        <pc:spChg chg="mod">
          <ac:chgData name="Sanmukh Kuppannagari" userId="ad215094-da36-4b66-9c79-369a17aea26b" providerId="ADAL" clId="{96F99E0C-C93F-407A-BBCD-0493B581EF1A}" dt="2025-08-28T12:50:57.500" v="18" actId="20577"/>
          <ac:spMkLst>
            <pc:docMk/>
            <pc:sldMk cId="1860245702" sldId="291"/>
            <ac:spMk id="3" creationId="{F83F3528-651B-423B-CCF2-B9B3E92B74CE}"/>
          </ac:spMkLst>
        </pc:spChg>
      </pc:sldChg>
      <pc:sldChg chg="modSp mod">
        <pc:chgData name="Sanmukh Kuppannagari" userId="ad215094-da36-4b66-9c79-369a17aea26b" providerId="ADAL" clId="{96F99E0C-C93F-407A-BBCD-0493B581EF1A}" dt="2025-08-28T13:03:39.073" v="23" actId="20577"/>
        <pc:sldMkLst>
          <pc:docMk/>
          <pc:sldMk cId="1542950900" sldId="364"/>
        </pc:sldMkLst>
        <pc:spChg chg="mod">
          <ac:chgData name="Sanmukh Kuppannagari" userId="ad215094-da36-4b66-9c79-369a17aea26b" providerId="ADAL" clId="{96F99E0C-C93F-407A-BBCD-0493B581EF1A}" dt="2025-08-28T13:03:39.073" v="23" actId="20577"/>
          <ac:spMkLst>
            <pc:docMk/>
            <pc:sldMk cId="1542950900" sldId="364"/>
            <ac:spMk id="3" creationId="{82FEB3D2-447D-4708-A6F1-69750310D5C4}"/>
          </ac:spMkLst>
        </pc:spChg>
      </pc:sldChg>
      <pc:sldChg chg="modSp mod">
        <pc:chgData name="Sanmukh Kuppannagari" userId="ad215094-da36-4b66-9c79-369a17aea26b" providerId="ADAL" clId="{96F99E0C-C93F-407A-BBCD-0493B581EF1A}" dt="2025-08-28T16:02:21.878" v="976" actId="20577"/>
        <pc:sldMkLst>
          <pc:docMk/>
          <pc:sldMk cId="3793747627" sldId="374"/>
        </pc:sldMkLst>
        <pc:spChg chg="mod">
          <ac:chgData name="Sanmukh Kuppannagari" userId="ad215094-da36-4b66-9c79-369a17aea26b" providerId="ADAL" clId="{96F99E0C-C93F-407A-BBCD-0493B581EF1A}" dt="2025-08-28T16:02:21.878" v="976" actId="20577"/>
          <ac:spMkLst>
            <pc:docMk/>
            <pc:sldMk cId="3793747627" sldId="374"/>
            <ac:spMk id="3" creationId="{74602D53-6DBB-0433-2DE6-D135EC5FD85E}"/>
          </ac:spMkLst>
        </pc:spChg>
      </pc:sldChg>
      <pc:sldChg chg="modSp mod">
        <pc:chgData name="Sanmukh Kuppannagari" userId="ad215094-da36-4b66-9c79-369a17aea26b" providerId="ADAL" clId="{96F99E0C-C93F-407A-BBCD-0493B581EF1A}" dt="2025-08-28T16:09:08.409" v="1226" actId="20577"/>
        <pc:sldMkLst>
          <pc:docMk/>
          <pc:sldMk cId="3250158129" sldId="387"/>
        </pc:sldMkLst>
        <pc:spChg chg="mod">
          <ac:chgData name="Sanmukh Kuppannagari" userId="ad215094-da36-4b66-9c79-369a17aea26b" providerId="ADAL" clId="{96F99E0C-C93F-407A-BBCD-0493B581EF1A}" dt="2025-08-28T16:09:08.409" v="1226" actId="20577"/>
          <ac:spMkLst>
            <pc:docMk/>
            <pc:sldMk cId="3250158129" sldId="387"/>
            <ac:spMk id="3" creationId="{830F631E-D87B-0508-3314-81691552B6F5}"/>
          </ac:spMkLst>
        </pc:spChg>
      </pc:sldChg>
      <pc:sldChg chg="modSp mod">
        <pc:chgData name="Sanmukh Kuppannagari" userId="ad215094-da36-4b66-9c79-369a17aea26b" providerId="ADAL" clId="{96F99E0C-C93F-407A-BBCD-0493B581EF1A}" dt="2025-08-28T16:33:15.734" v="1332" actId="5793"/>
        <pc:sldMkLst>
          <pc:docMk/>
          <pc:sldMk cId="1655728199" sldId="388"/>
        </pc:sldMkLst>
        <pc:spChg chg="mod">
          <ac:chgData name="Sanmukh Kuppannagari" userId="ad215094-da36-4b66-9c79-369a17aea26b" providerId="ADAL" clId="{96F99E0C-C93F-407A-BBCD-0493B581EF1A}" dt="2025-08-28T16:33:15.734" v="1332" actId="5793"/>
          <ac:spMkLst>
            <pc:docMk/>
            <pc:sldMk cId="1655728199" sldId="388"/>
            <ac:spMk id="3" creationId="{830F631E-D87B-0508-3314-81691552B6F5}"/>
          </ac:spMkLst>
        </pc:spChg>
      </pc:sldChg>
      <pc:sldChg chg="modSp add mod">
        <pc:chgData name="Sanmukh Kuppannagari" userId="ad215094-da36-4b66-9c79-369a17aea26b" providerId="ADAL" clId="{96F99E0C-C93F-407A-BBCD-0493B581EF1A}" dt="2025-08-28T13:04:51.700" v="46" actId="20577"/>
        <pc:sldMkLst>
          <pc:docMk/>
          <pc:sldMk cId="1484812117" sldId="390"/>
        </pc:sldMkLst>
        <pc:spChg chg="mod">
          <ac:chgData name="Sanmukh Kuppannagari" userId="ad215094-da36-4b66-9c79-369a17aea26b" providerId="ADAL" clId="{96F99E0C-C93F-407A-BBCD-0493B581EF1A}" dt="2025-08-28T13:04:51.700" v="46" actId="20577"/>
          <ac:spMkLst>
            <pc:docMk/>
            <pc:sldMk cId="1484812117" sldId="390"/>
            <ac:spMk id="3" creationId="{2EF61A8D-D51D-EAC7-D883-34D9A326C34B}"/>
          </ac:spMkLst>
        </pc:spChg>
      </pc:sldChg>
      <pc:sldChg chg="new del">
        <pc:chgData name="Sanmukh Kuppannagari" userId="ad215094-da36-4b66-9c79-369a17aea26b" providerId="ADAL" clId="{96F99E0C-C93F-407A-BBCD-0493B581EF1A}" dt="2025-08-28T13:04:25.693" v="25" actId="47"/>
        <pc:sldMkLst>
          <pc:docMk/>
          <pc:sldMk cId="2153164676" sldId="390"/>
        </pc:sldMkLst>
      </pc:sldChg>
      <pc:sldChg chg="modSp add mod">
        <pc:chgData name="Sanmukh Kuppannagari" userId="ad215094-da36-4b66-9c79-369a17aea26b" providerId="ADAL" clId="{96F99E0C-C93F-407A-BBCD-0493B581EF1A}" dt="2025-08-28T13:05:22.512" v="85" actId="20577"/>
        <pc:sldMkLst>
          <pc:docMk/>
          <pc:sldMk cId="2798887558" sldId="391"/>
        </pc:sldMkLst>
        <pc:spChg chg="mod">
          <ac:chgData name="Sanmukh Kuppannagari" userId="ad215094-da36-4b66-9c79-369a17aea26b" providerId="ADAL" clId="{96F99E0C-C93F-407A-BBCD-0493B581EF1A}" dt="2025-08-28T13:05:22.512" v="85" actId="20577"/>
          <ac:spMkLst>
            <pc:docMk/>
            <pc:sldMk cId="2798887558" sldId="391"/>
            <ac:spMk id="3" creationId="{E52EDF43-B726-B641-9E0D-7010ABCEB0C0}"/>
          </ac:spMkLst>
        </pc:spChg>
      </pc:sldChg>
      <pc:sldChg chg="modSp add mod">
        <pc:chgData name="Sanmukh Kuppannagari" userId="ad215094-da36-4b66-9c79-369a17aea26b" providerId="ADAL" clId="{96F99E0C-C93F-407A-BBCD-0493B581EF1A}" dt="2025-08-28T13:06:01.694" v="89" actId="20577"/>
        <pc:sldMkLst>
          <pc:docMk/>
          <pc:sldMk cId="2988952244" sldId="392"/>
        </pc:sldMkLst>
        <pc:spChg chg="mod">
          <ac:chgData name="Sanmukh Kuppannagari" userId="ad215094-da36-4b66-9c79-369a17aea26b" providerId="ADAL" clId="{96F99E0C-C93F-407A-BBCD-0493B581EF1A}" dt="2025-08-28T13:06:01.694" v="89" actId="20577"/>
          <ac:spMkLst>
            <pc:docMk/>
            <pc:sldMk cId="2988952244" sldId="392"/>
            <ac:spMk id="3" creationId="{6E49F20B-749F-03B7-0EDA-1F565E82C7C9}"/>
          </ac:spMkLst>
        </pc:spChg>
      </pc:sldChg>
      <pc:sldChg chg="modSp add mod">
        <pc:chgData name="Sanmukh Kuppannagari" userId="ad215094-da36-4b66-9c79-369a17aea26b" providerId="ADAL" clId="{96F99E0C-C93F-407A-BBCD-0493B581EF1A}" dt="2025-08-28T13:06:20.839" v="110" actId="20577"/>
        <pc:sldMkLst>
          <pc:docMk/>
          <pc:sldMk cId="1380753706" sldId="393"/>
        </pc:sldMkLst>
        <pc:spChg chg="mod">
          <ac:chgData name="Sanmukh Kuppannagari" userId="ad215094-da36-4b66-9c79-369a17aea26b" providerId="ADAL" clId="{96F99E0C-C93F-407A-BBCD-0493B581EF1A}" dt="2025-08-28T13:06:20.839" v="110" actId="20577"/>
          <ac:spMkLst>
            <pc:docMk/>
            <pc:sldMk cId="1380753706" sldId="393"/>
            <ac:spMk id="3" creationId="{E8BA404F-0AD9-96F9-25B8-CA71ED86E83E}"/>
          </ac:spMkLst>
        </pc:spChg>
      </pc:sldChg>
      <pc:sldChg chg="modSp new mod">
        <pc:chgData name="Sanmukh Kuppannagari" userId="ad215094-da36-4b66-9c79-369a17aea26b" providerId="ADAL" clId="{96F99E0C-C93F-407A-BBCD-0493B581EF1A}" dt="2025-08-28T13:28:02.634" v="558" actId="20577"/>
        <pc:sldMkLst>
          <pc:docMk/>
          <pc:sldMk cId="327432529" sldId="394"/>
        </pc:sldMkLst>
        <pc:spChg chg="mod">
          <ac:chgData name="Sanmukh Kuppannagari" userId="ad215094-da36-4b66-9c79-369a17aea26b" providerId="ADAL" clId="{96F99E0C-C93F-407A-BBCD-0493B581EF1A}" dt="2025-08-28T13:25:09.690" v="112"/>
          <ac:spMkLst>
            <pc:docMk/>
            <pc:sldMk cId="327432529" sldId="394"/>
            <ac:spMk id="2" creationId="{22D77E51-C8EB-A50C-2FED-C7B620A69A49}"/>
          </ac:spMkLst>
        </pc:spChg>
        <pc:spChg chg="mod">
          <ac:chgData name="Sanmukh Kuppannagari" userId="ad215094-da36-4b66-9c79-369a17aea26b" providerId="ADAL" clId="{96F99E0C-C93F-407A-BBCD-0493B581EF1A}" dt="2025-08-28T13:28:02.634" v="558" actId="20577"/>
          <ac:spMkLst>
            <pc:docMk/>
            <pc:sldMk cId="327432529" sldId="394"/>
            <ac:spMk id="3" creationId="{610CCC3D-9BFF-E613-0C8C-39B44CC3C64E}"/>
          </ac:spMkLst>
        </pc:spChg>
      </pc:sldChg>
      <pc:sldChg chg="add">
        <pc:chgData name="Sanmukh Kuppannagari" userId="ad215094-da36-4b66-9c79-369a17aea26b" providerId="ADAL" clId="{96F99E0C-C93F-407A-BBCD-0493B581EF1A}" dt="2025-08-28T13:55:12.054" v="559"/>
        <pc:sldMkLst>
          <pc:docMk/>
          <pc:sldMk cId="3061285654" sldId="395"/>
        </pc:sldMkLst>
      </pc:sldChg>
      <pc:sldChg chg="add">
        <pc:chgData name="Sanmukh Kuppannagari" userId="ad215094-da36-4b66-9c79-369a17aea26b" providerId="ADAL" clId="{96F99E0C-C93F-407A-BBCD-0493B581EF1A}" dt="2025-08-28T13:55:12.054" v="559"/>
        <pc:sldMkLst>
          <pc:docMk/>
          <pc:sldMk cId="4081674201" sldId="396"/>
        </pc:sldMkLst>
      </pc:sldChg>
      <pc:sldChg chg="modSp new mod">
        <pc:chgData name="Sanmukh Kuppannagari" userId="ad215094-da36-4b66-9c79-369a17aea26b" providerId="ADAL" clId="{96F99E0C-C93F-407A-BBCD-0493B581EF1A}" dt="2025-08-28T16:05:33.246" v="1117" actId="20577"/>
        <pc:sldMkLst>
          <pc:docMk/>
          <pc:sldMk cId="1992288713" sldId="397"/>
        </pc:sldMkLst>
        <pc:spChg chg="mod">
          <ac:chgData name="Sanmukh Kuppannagari" userId="ad215094-da36-4b66-9c79-369a17aea26b" providerId="ADAL" clId="{96F99E0C-C93F-407A-BBCD-0493B581EF1A}" dt="2025-08-28T14:09:25.927" v="561"/>
          <ac:spMkLst>
            <pc:docMk/>
            <pc:sldMk cId="1992288713" sldId="397"/>
            <ac:spMk id="2" creationId="{3D6C63C6-4615-4E7B-C937-87EEE1303BB0}"/>
          </ac:spMkLst>
        </pc:spChg>
        <pc:spChg chg="mod">
          <ac:chgData name="Sanmukh Kuppannagari" userId="ad215094-da36-4b66-9c79-369a17aea26b" providerId="ADAL" clId="{96F99E0C-C93F-407A-BBCD-0493B581EF1A}" dt="2025-08-28T16:05:33.246" v="1117" actId="20577"/>
          <ac:spMkLst>
            <pc:docMk/>
            <pc:sldMk cId="1992288713" sldId="397"/>
            <ac:spMk id="3" creationId="{9613729C-04B7-A339-CAC8-59973B0342AB}"/>
          </ac:spMkLst>
        </pc:spChg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scholar?as_ylo=2018&amp;q=data+prefetching+machine+learning&amp;hl=en&amp;as_sdt=0,36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2</a:t>
            </a:r>
          </a:p>
          <a:p>
            <a:r>
              <a:rPr lang="en-US" dirty="0"/>
              <a:t>8/28/2025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Performance Modeling?</a:t>
            </a:r>
          </a:p>
          <a:p>
            <a:r>
              <a:rPr lang="en-US" dirty="0"/>
              <a:t>Processor Memory Architectures</a:t>
            </a:r>
          </a:p>
          <a:p>
            <a:pPr lvl="1"/>
            <a:r>
              <a:rPr lang="en-US" dirty="0"/>
              <a:t>Basic Execution Model</a:t>
            </a:r>
          </a:p>
          <a:p>
            <a:pPr lvl="1"/>
            <a:r>
              <a:rPr lang="en-US" dirty="0"/>
              <a:t>Memory System Modeling</a:t>
            </a:r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Performance Modeling?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Processor Memory Architectures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Basic Execution Model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Memory System Modeling</a:t>
            </a:r>
          </a:p>
        </p:txBody>
      </p:sp>
    </p:spTree>
    <p:extLst>
      <p:ext uri="{BB962C8B-B14F-4D97-AF65-F5344CB8AC3E}">
        <p14:creationId xmlns:p14="http://schemas.microsoft.com/office/powerpoint/2010/main" val="1737272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8FAB-12BE-4217-D345-88D20CC4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63AF9-F60F-2875-B021-B30162F3E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important parameters that determine the performance of an </a:t>
            </a:r>
            <a:r>
              <a:rPr lang="en-US" b="1" dirty="0"/>
              <a:t>algorithm</a:t>
            </a:r>
            <a:r>
              <a:rPr lang="en-US" dirty="0"/>
              <a:t> mapped to the </a:t>
            </a:r>
            <a:r>
              <a:rPr lang="en-US" b="1" dirty="0"/>
              <a:t>platform</a:t>
            </a:r>
          </a:p>
          <a:p>
            <a:pPr lvl="1"/>
            <a:r>
              <a:rPr lang="en-US" dirty="0"/>
              <a:t>Algorithm – Parallel algorithm that we have designed</a:t>
            </a:r>
          </a:p>
          <a:p>
            <a:pPr lvl="1"/>
            <a:r>
              <a:rPr lang="en-US" dirty="0"/>
              <a:t>Platform – The target hardware on which we wish to run the parallel algorithm</a:t>
            </a:r>
          </a:p>
          <a:p>
            <a:endParaRPr lang="en-US" dirty="0"/>
          </a:p>
          <a:p>
            <a:r>
              <a:rPr lang="en-US" dirty="0"/>
              <a:t>Identifying equations that govern the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2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BC1D-E030-DB76-A14F-35DB6875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Performance Modeling?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DF280-DBE6-76C4-625B-3B2F83ED0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Serial Code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break</a:t>
                </a:r>
              </a:p>
              <a:p>
                <a:pPr lvl="1"/>
                <a:r>
                  <a:rPr lang="en-US" dirty="0"/>
                  <a:t>Else: Do work()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are the important parameters?</a:t>
                </a:r>
              </a:p>
              <a:p>
                <a:endParaRPr lang="en-US" dirty="0"/>
              </a:p>
              <a:p>
                <a:r>
                  <a:rPr lang="en-US" dirty="0"/>
                  <a:t>What are the equations governing the performance of the algorithm?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DF280-DBE6-76C4-625B-3B2F83ED0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78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BC1D-E030-DB76-A14F-35DB6875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Performance Modeling?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DF280-DBE6-76C4-625B-3B2F83ED0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Serial Code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break</a:t>
                </a:r>
              </a:p>
              <a:p>
                <a:pPr lvl="1"/>
                <a:r>
                  <a:rPr lang="en-US" dirty="0"/>
                  <a:t>Else: Do work()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are the important parameters?</a:t>
                </a:r>
              </a:p>
              <a:p>
                <a:endParaRPr lang="en-US" dirty="0"/>
              </a:p>
              <a:p>
                <a:r>
                  <a:rPr lang="en-US" dirty="0"/>
                  <a:t>What are the equations governing the performance of the algorithm?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DF280-DBE6-76C4-625B-3B2F83ED0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2D8F177-960A-B1B6-6897-E88EB1E43568}"/>
              </a:ext>
            </a:extLst>
          </p:cNvPr>
          <p:cNvSpPr txBox="1"/>
          <p:nvPr/>
        </p:nvSpPr>
        <p:spPr>
          <a:xfrm>
            <a:off x="6027420" y="4945380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M,N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47A2D-29FA-248C-4AC5-A005CD8ED61C}"/>
              </a:ext>
            </a:extLst>
          </p:cNvPr>
          <p:cNvSpPr txBox="1"/>
          <p:nvPr/>
        </p:nvSpPr>
        <p:spPr>
          <a:xfrm>
            <a:off x="6179820" y="6163072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Min{log M,N}</a:t>
            </a:r>
          </a:p>
        </p:txBody>
      </p:sp>
    </p:spTree>
    <p:extLst>
      <p:ext uri="{BB962C8B-B14F-4D97-AF65-F5344CB8AC3E}">
        <p14:creationId xmlns:p14="http://schemas.microsoft.com/office/powerpoint/2010/main" val="180158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1EDE-CCFA-D4BF-F2EA-1BEF4984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Performance Modeling?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FB354-6842-EAE2-0203-3F2391318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Complexity Analysis of Serial Algorithms</a:t>
                </a:r>
              </a:p>
              <a:p>
                <a:pPr lvl="1"/>
                <a:r>
                  <a:rPr lang="en-US" dirty="0"/>
                  <a:t>Bubble sort (n^3) vs Merge sort (n log n)</a:t>
                </a:r>
              </a:p>
              <a:p>
                <a:pPr lvl="1"/>
                <a:r>
                  <a:rPr lang="en-US" dirty="0"/>
                  <a:t>Parameter that determine performance: input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Equations governing performance – complexity of the algorithm</a:t>
                </a:r>
              </a:p>
              <a:p>
                <a:endParaRPr lang="en-US" dirty="0"/>
              </a:p>
              <a:p>
                <a:r>
                  <a:rPr lang="en-US" dirty="0"/>
                  <a:t>Provide understanding of bottlenecks and what to optimize</a:t>
                </a:r>
              </a:p>
              <a:p>
                <a:endParaRPr lang="en-US" dirty="0"/>
              </a:p>
              <a:p>
                <a:r>
                  <a:rPr lang="en-US" dirty="0"/>
                  <a:t>Do not provide actual implementation estimates</a:t>
                </a:r>
              </a:p>
              <a:p>
                <a:pPr lvl="1"/>
                <a:r>
                  <a:rPr lang="en-US" dirty="0"/>
                  <a:t>Quick sort vs Merge sort ???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FB354-6842-EAE2-0203-3F2391318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958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977F-2234-F522-D14D-69665C1B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Algorithm Performance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C96D1-D32F-958D-FAF9-30CCFF369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is platform dependent</a:t>
            </a:r>
          </a:p>
          <a:p>
            <a:endParaRPr lang="en-US" dirty="0"/>
          </a:p>
          <a:p>
            <a:r>
              <a:rPr lang="en-US" dirty="0"/>
              <a:t>Different platforms -&gt; different parameters</a:t>
            </a:r>
          </a:p>
          <a:p>
            <a:endParaRPr lang="en-US" dirty="0"/>
          </a:p>
          <a:p>
            <a:r>
              <a:rPr lang="en-US" dirty="0"/>
              <a:t>Different platforms -&gt; different equations governing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77053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9CC1-765C-9326-C34F-B48017CF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Targeted Platforms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F3528-651B-423B-CCF2-B9B3E92B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5580" cy="4351338"/>
          </a:xfrm>
        </p:spPr>
        <p:txBody>
          <a:bodyPr/>
          <a:lstStyle/>
          <a:p>
            <a:r>
              <a:rPr lang="en-US" dirty="0"/>
              <a:t>Processor-Memory Architecture</a:t>
            </a:r>
          </a:p>
          <a:p>
            <a:pPr lvl="1"/>
            <a:r>
              <a:rPr lang="en-US" dirty="0"/>
              <a:t>CPUs, GPUs</a:t>
            </a:r>
          </a:p>
          <a:p>
            <a:endParaRPr lang="en-US" dirty="0"/>
          </a:p>
          <a:p>
            <a:r>
              <a:rPr lang="en-US" dirty="0"/>
              <a:t>Systolic Array Architecture</a:t>
            </a:r>
          </a:p>
          <a:p>
            <a:pPr lvl="1"/>
            <a:r>
              <a:rPr lang="en-US" dirty="0"/>
              <a:t>TPUs, Tensor Cores</a:t>
            </a:r>
          </a:p>
          <a:p>
            <a:pPr lvl="1"/>
            <a:endParaRPr lang="en-US" dirty="0"/>
          </a:p>
          <a:p>
            <a:r>
              <a:rPr lang="en-US" dirty="0"/>
              <a:t>Clusters </a:t>
            </a:r>
          </a:p>
          <a:p>
            <a:pPr lvl="1"/>
            <a:r>
              <a:rPr lang="en-US" dirty="0"/>
              <a:t>HPC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D370AD-0FA7-CF28-1C5F-D1110198E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064" y="1825625"/>
            <a:ext cx="1408361" cy="1927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D93ED6-455B-1218-86DD-A7FC809EF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425" y="4001294"/>
            <a:ext cx="4363963" cy="2561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747C6A-5FE2-9513-A60F-A1D4543BE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826" y="1825625"/>
            <a:ext cx="3315416" cy="117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45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6AD6-831D-B953-11B3-DA6D2A12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Performance Modeling?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F5C4C-4D21-AFE9-A762-13150DB82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importantly, to get a mental model of how the algorithm you are designing runs on the hardware, without going into specifics of the hardware.</a:t>
            </a:r>
          </a:p>
          <a:p>
            <a:endParaRPr lang="en-US" dirty="0"/>
          </a:p>
          <a:p>
            <a:r>
              <a:rPr lang="en-US" dirty="0"/>
              <a:t>Parallel programs can be notoriously hard to reason about</a:t>
            </a:r>
          </a:p>
          <a:p>
            <a:endParaRPr lang="en-US" dirty="0"/>
          </a:p>
          <a:p>
            <a:r>
              <a:rPr lang="en-US" dirty="0"/>
              <a:t>Simple performance models, even if not accurate, can help us get clarity on execution and aid in debugging</a:t>
            </a:r>
          </a:p>
        </p:txBody>
      </p:sp>
    </p:spTree>
    <p:extLst>
      <p:ext uri="{BB962C8B-B14F-4D97-AF65-F5344CB8AC3E}">
        <p14:creationId xmlns:p14="http://schemas.microsoft.com/office/powerpoint/2010/main" val="531953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Why Performance Modeling?</a:t>
            </a:r>
          </a:p>
          <a:p>
            <a:r>
              <a:rPr lang="en-US" dirty="0"/>
              <a:t>Processor Memory Architectures</a:t>
            </a:r>
          </a:p>
          <a:p>
            <a:pPr lvl="1"/>
            <a:r>
              <a:rPr lang="en-US" dirty="0"/>
              <a:t>Basic Execution Model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Memory System Modeling</a:t>
            </a:r>
          </a:p>
        </p:txBody>
      </p:sp>
    </p:spTree>
    <p:extLst>
      <p:ext uri="{BB962C8B-B14F-4D97-AF65-F5344CB8AC3E}">
        <p14:creationId xmlns:p14="http://schemas.microsoft.com/office/powerpoint/2010/main" val="229747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00A3-689C-6420-6B70-AAD99A63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Fetch-Execute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A53E7-8720-86CB-5262-B38B9EB1B1EA}"/>
              </a:ext>
            </a:extLst>
          </p:cNvPr>
          <p:cNvSpPr txBox="1"/>
          <p:nvPr/>
        </p:nvSpPr>
        <p:spPr>
          <a:xfrm>
            <a:off x="5026152" y="1623202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A simple view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882B0E-2586-468A-6019-D3ED40697026}"/>
              </a:ext>
            </a:extLst>
          </p:cNvPr>
          <p:cNvGrpSpPr/>
          <p:nvPr/>
        </p:nvGrpSpPr>
        <p:grpSpPr>
          <a:xfrm>
            <a:off x="2798218" y="3284221"/>
            <a:ext cx="2362200" cy="1905000"/>
            <a:chOff x="1143000" y="2133600"/>
            <a:chExt cx="2362200" cy="1905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5C39A6-3617-18CE-8D91-76AE345C3A63}"/>
                </a:ext>
              </a:extLst>
            </p:cNvPr>
            <p:cNvGrpSpPr/>
            <p:nvPr/>
          </p:nvGrpSpPr>
          <p:grpSpPr>
            <a:xfrm>
              <a:off x="1143000" y="2133600"/>
              <a:ext cx="1447800" cy="1905000"/>
              <a:chOff x="1143000" y="2133600"/>
              <a:chExt cx="1447800" cy="1905000"/>
            </a:xfrm>
          </p:grpSpPr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710D39E2-821C-B052-DBBE-D3638D4FDE0C}"/>
                  </a:ext>
                </a:extLst>
              </p:cNvPr>
              <p:cNvSpPr/>
              <p:nvPr/>
            </p:nvSpPr>
            <p:spPr>
              <a:xfrm>
                <a:off x="1143000" y="2133600"/>
                <a:ext cx="1447800" cy="1905000"/>
              </a:xfrm>
              <a:prstGeom prst="arc">
                <a:avLst>
                  <a:gd name="adj1" fmla="val 1959089"/>
                  <a:gd name="adj2" fmla="val 19657220"/>
                </a:avLst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4D68C70-4934-04D8-FC5D-B6D5BE822D10}"/>
                  </a:ext>
                </a:extLst>
              </p:cNvPr>
              <p:cNvCxnSpPr/>
              <p:nvPr/>
            </p:nvCxnSpPr>
            <p:spPr>
              <a:xfrm>
                <a:off x="2438400" y="2514600"/>
                <a:ext cx="114300" cy="223023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0B60F5-8677-39AE-FDB8-992DC6362043}"/>
                </a:ext>
              </a:extLst>
            </p:cNvPr>
            <p:cNvSpPr txBox="1"/>
            <p:nvPr/>
          </p:nvSpPr>
          <p:spPr>
            <a:xfrm>
              <a:off x="2209800" y="2662535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</a:rPr>
                <a:t>Fetch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68D6C3-1CEB-E49E-D934-232A5A23FDC8}"/>
                </a:ext>
              </a:extLst>
            </p:cNvPr>
            <p:cNvSpPr txBox="1"/>
            <p:nvPr/>
          </p:nvSpPr>
          <p:spPr>
            <a:xfrm>
              <a:off x="2209800" y="3124200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</a:rPr>
                <a:t>Execute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D8647D-331C-D75A-E99B-018E2B3ED7CA}"/>
              </a:ext>
            </a:extLst>
          </p:cNvPr>
          <p:cNvGrpSpPr/>
          <p:nvPr/>
        </p:nvGrpSpPr>
        <p:grpSpPr>
          <a:xfrm>
            <a:off x="7576634" y="2903221"/>
            <a:ext cx="2057400" cy="2819400"/>
            <a:chOff x="3886200" y="1480810"/>
            <a:chExt cx="2133600" cy="32435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641694-1852-6582-0E4C-1D37312B2F1B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96221E-E942-8910-FBB1-2039F85C1B9D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Processor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F1C29F7-BD93-9FD1-953E-B197EDC5466F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2E68F89-F8B9-95D8-192A-B1171B320D22}"/>
              </a:ext>
            </a:extLst>
          </p:cNvPr>
          <p:cNvSpPr txBox="1"/>
          <p:nvPr/>
        </p:nvSpPr>
        <p:spPr>
          <a:xfrm>
            <a:off x="2191512" y="572262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Memory access = 1 cycle for any location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8237D1-4FB5-1661-A49A-63265B042EA5}"/>
              </a:ext>
            </a:extLst>
          </p:cNvPr>
          <p:cNvSpPr txBox="1"/>
          <p:nvPr/>
        </p:nvSpPr>
        <p:spPr>
          <a:xfrm>
            <a:off x="2191512" y="6027422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Execution  = 1 cycle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06D7F-AD2E-2BAF-6E61-0B38C56EF18D}"/>
              </a:ext>
            </a:extLst>
          </p:cNvPr>
          <p:cNvSpPr txBox="1"/>
          <p:nvPr/>
        </p:nvSpPr>
        <p:spPr>
          <a:xfrm>
            <a:off x="2191512" y="5324145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Parameters:</a:t>
            </a:r>
          </a:p>
        </p:txBody>
      </p:sp>
    </p:spTree>
    <p:extLst>
      <p:ext uri="{BB962C8B-B14F-4D97-AF65-F5344CB8AC3E}">
        <p14:creationId xmlns:p14="http://schemas.microsoft.com/office/powerpoint/2010/main" val="920574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1" y="1825625"/>
                <a:ext cx="84401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 the following computation</a:t>
                </a:r>
              </a:p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−0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is the above operation?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1" y="1825625"/>
                <a:ext cx="8440175" cy="4351338"/>
              </a:xfrm>
              <a:blipFill>
                <a:blip r:embed="rId2"/>
                <a:stretch>
                  <a:fillRect l="-13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78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1" y="1825625"/>
                <a:ext cx="945752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 the following computation</a:t>
                </a:r>
              </a:p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−0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the above operation? </a:t>
                </a:r>
                <a:r>
                  <a:rPr lang="en-US" dirty="0">
                    <a:solidFill>
                      <a:srgbClr val="C00000"/>
                    </a:solidFill>
                  </a:rPr>
                  <a:t>Matrix-Vector Multiplication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1" y="1825625"/>
                <a:ext cx="9457521" cy="4351338"/>
              </a:xfrm>
              <a:blipFill>
                <a:blip r:embed="rId2"/>
                <a:stretch>
                  <a:fillRect l="-116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84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2A39-D8DB-2C97-427D-CE512C68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Vector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9E103-B828-9CD7-818A-D24A3A8F1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9010" y="1690688"/>
                <a:ext cx="5173980" cy="74231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9E103-B828-9CD7-818A-D24A3A8F1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9010" y="1690688"/>
                <a:ext cx="5173980" cy="742315"/>
              </a:xfrm>
              <a:blipFill>
                <a:blip r:embed="rId2"/>
                <a:stretch>
                  <a:fillRect l="-2476" t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4089B86-37E0-BA5D-2549-9B68C6A65120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7AF64-D2D1-AD17-98C5-BAFD1DCD7946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26CA1D-41C5-AFE4-C4A0-14DA7113A0D3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D7C455-2A3F-2C15-5660-10EDEC0AB5B7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7A87E81-317B-063D-797B-62FC45281A4E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4485D-C49C-9968-A213-36E63F55FF35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97F2A-1285-BDB5-5575-7E1CA65207F2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C418FD-CEDD-B6F8-1AF1-ADD40503408C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CCA3B3-FA9B-B9BC-36D4-1BAECC4D9C2B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7B8AE-7831-87CF-EA0F-EFBC4FEFCCB5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FACFF-C987-3CF2-58B0-7D508E082A24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8ED341-5E5B-3A8B-E3B6-0F5FBAE77FC5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F8958C-A511-7118-2F4B-1BB6636E1EF7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E204732-6A89-E022-9497-3707867BE5E5}"/>
              </a:ext>
            </a:extLst>
          </p:cNvPr>
          <p:cNvSpPr txBox="1"/>
          <p:nvPr/>
        </p:nvSpPr>
        <p:spPr>
          <a:xfrm>
            <a:off x="9675146" y="3300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7BE7D7-7FBE-6B21-4C77-9E04A0D7D095}"/>
              </a:ext>
            </a:extLst>
          </p:cNvPr>
          <p:cNvSpPr txBox="1"/>
          <p:nvPr/>
        </p:nvSpPr>
        <p:spPr>
          <a:xfrm>
            <a:off x="9675146" y="45416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35F209-C770-1282-DCA8-6F068FE0AB13}"/>
              </a:ext>
            </a:extLst>
          </p:cNvPr>
          <p:cNvSpPr txBox="1"/>
          <p:nvPr/>
        </p:nvSpPr>
        <p:spPr>
          <a:xfrm>
            <a:off x="9675146" y="5697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C85A3D-F23F-1375-C289-415B7FC7AD61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96B7BD-0EE8-3AE9-75EA-9B16C411E229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FD0BC4-384F-12F2-8391-4B471C85C69A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93D261-6122-F9EB-48CA-312662A32564}"/>
              </a:ext>
            </a:extLst>
          </p:cNvPr>
          <p:cNvSpPr txBox="1"/>
          <p:nvPr/>
        </p:nvSpPr>
        <p:spPr>
          <a:xfrm>
            <a:off x="988346" y="348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2BA9AD-7D2C-9633-9CAB-F0A1A4F3D184}"/>
              </a:ext>
            </a:extLst>
          </p:cNvPr>
          <p:cNvSpPr txBox="1"/>
          <p:nvPr/>
        </p:nvSpPr>
        <p:spPr>
          <a:xfrm>
            <a:off x="988346" y="5225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D38E93-BB19-AAFC-94CB-46CAB85B0B25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49C953-AA30-2CF7-86D6-0DC6785D3AB1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74179-050B-9E7D-2DC4-11D34CA88AC9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1EEDB6-3C05-1F48-A7A2-1F9518FF6A46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B7F64-ADE6-A9EF-4AFE-A2A558E03F7E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BB6D27-7A04-E697-F1A5-57080CECA18B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09BF377-D2A4-6481-7539-CD7D5D0E2F9A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F4AE85-8D24-BDAE-EC79-0F8EA42A1191}"/>
              </a:ext>
            </a:extLst>
          </p:cNvPr>
          <p:cNvSpPr txBox="1"/>
          <p:nvPr/>
        </p:nvSpPr>
        <p:spPr>
          <a:xfrm>
            <a:off x="5853235" y="234613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1A7C43A-41F4-B004-AF74-84B82BE6E3F1}"/>
              </a:ext>
            </a:extLst>
          </p:cNvPr>
          <p:cNvCxnSpPr>
            <a:cxnSpLocks/>
          </p:cNvCxnSpPr>
          <p:nvPr/>
        </p:nvCxnSpPr>
        <p:spPr>
          <a:xfrm flipV="1">
            <a:off x="10565245" y="2880360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67D3A3F-64D0-AC5D-60A3-F3AD4152355A}"/>
              </a:ext>
            </a:extLst>
          </p:cNvPr>
          <p:cNvSpPr txBox="1"/>
          <p:nvPr/>
        </p:nvSpPr>
        <p:spPr>
          <a:xfrm>
            <a:off x="10565245" y="446774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1F8614-D965-604B-B98C-3382BB0190D9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EC62C4C-B855-8695-F091-EE8259E185D2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0570975-FE59-5B61-297C-F443A3230BDD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CE1E5CC-3A35-CBBD-EF86-721240FE5313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F65B19F-ADBE-6A9B-E6D4-696D9038643A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87C8F7-4EBD-1273-CD42-E223ED2F1F83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D331CB5-23DA-1221-2959-163BEC2625E2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8A9A8F2-8EB7-6D40-9456-4B33144DD64B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FDC83A8-E934-72D0-17E2-480B87EBA10F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133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603609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Decompose the equation into two types of instructions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Fetch: </a:t>
                </a:r>
                <a:r>
                  <a:rPr lang="en-US" dirty="0"/>
                  <a:t>Read from memory or Write to memory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Execute: </a:t>
                </a:r>
                <a:r>
                  <a:rPr lang="en-US" dirty="0"/>
                  <a:t>Arithmetic/Logical Operation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6036090" cy="4351338"/>
              </a:xfrm>
              <a:blipFill>
                <a:blip r:embed="rId2"/>
                <a:stretch>
                  <a:fillRect l="-2121" t="-2241" r="-2323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D9C82721-4B11-4F4F-242A-8BBADC177259}"/>
              </a:ext>
            </a:extLst>
          </p:cNvPr>
          <p:cNvGrpSpPr/>
          <p:nvPr/>
        </p:nvGrpSpPr>
        <p:grpSpPr>
          <a:xfrm>
            <a:off x="7576634" y="2903221"/>
            <a:ext cx="2057400" cy="2819400"/>
            <a:chOff x="3886200" y="1480810"/>
            <a:chExt cx="2133600" cy="32435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893F90-8A33-308C-4AE6-986B887A6510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0E639A-F77F-D942-0FA1-03F9450E22D8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Processor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C386A64-9F48-49C4-DDC7-94653A8E7AB3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6218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  <a:blipFill>
                <a:blip r:embed="rId2"/>
                <a:stretch>
                  <a:fillRect l="-280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D9C82721-4B11-4F4F-242A-8BBADC177259}"/>
              </a:ext>
            </a:extLst>
          </p:cNvPr>
          <p:cNvGrpSpPr/>
          <p:nvPr/>
        </p:nvGrpSpPr>
        <p:grpSpPr>
          <a:xfrm>
            <a:off x="7576634" y="2903221"/>
            <a:ext cx="2057400" cy="2819400"/>
            <a:chOff x="3886200" y="1480810"/>
            <a:chExt cx="2133600" cy="32435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893F90-8A33-308C-4AE6-986B887A6510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0E639A-F77F-D942-0FA1-03F9450E22D8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Processor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C386A64-9F48-49C4-DDC7-94653A8E7AB3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1997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  <a:blipFill>
                <a:blip r:embed="rId2"/>
                <a:stretch>
                  <a:fillRect l="-280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D9C82721-4B11-4F4F-242A-8BBADC177259}"/>
              </a:ext>
            </a:extLst>
          </p:cNvPr>
          <p:cNvGrpSpPr/>
          <p:nvPr/>
        </p:nvGrpSpPr>
        <p:grpSpPr>
          <a:xfrm>
            <a:off x="7576634" y="2903221"/>
            <a:ext cx="2057400" cy="2819400"/>
            <a:chOff x="3886200" y="1480810"/>
            <a:chExt cx="2133600" cy="32435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893F90-8A33-308C-4AE6-986B887A6510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0E639A-F77F-D942-0FA1-03F9450E22D8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Processor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C386A64-9F48-49C4-DDC7-94653A8E7AB3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8D3A14-A408-0330-0AA7-5EEC0688FE1B}"/>
              </a:ext>
            </a:extLst>
          </p:cNvPr>
          <p:cNvCxnSpPr/>
          <p:nvPr/>
        </p:nvCxnSpPr>
        <p:spPr>
          <a:xfrm>
            <a:off x="3027815" y="3070204"/>
            <a:ext cx="109606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F8E045-B920-1381-DE6E-DF99921BE227}"/>
              </a:ext>
            </a:extLst>
          </p:cNvPr>
          <p:cNvSpPr txBox="1"/>
          <p:nvPr/>
        </p:nvSpPr>
        <p:spPr>
          <a:xfrm>
            <a:off x="4359298" y="2608539"/>
            <a:ext cx="2991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we are storing these in a local memory (such as registers) in the processor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0B9D41-6E57-EDAC-AD1A-2A3DAE64E3EE}"/>
              </a:ext>
            </a:extLst>
          </p:cNvPr>
          <p:cNvCxnSpPr>
            <a:cxnSpLocks/>
          </p:cNvCxnSpPr>
          <p:nvPr/>
        </p:nvCxnSpPr>
        <p:spPr>
          <a:xfrm flipV="1">
            <a:off x="2538319" y="3136816"/>
            <a:ext cx="1585564" cy="47940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83CA5F-546F-2D0C-9F5C-8E7DE3B5F39C}"/>
              </a:ext>
            </a:extLst>
          </p:cNvPr>
          <p:cNvCxnSpPr>
            <a:cxnSpLocks/>
          </p:cNvCxnSpPr>
          <p:nvPr/>
        </p:nvCxnSpPr>
        <p:spPr>
          <a:xfrm flipV="1">
            <a:off x="1590319" y="3251873"/>
            <a:ext cx="2533564" cy="74942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B796B6-2AE6-97B6-4FD7-22BA35788EE8}"/>
              </a:ext>
            </a:extLst>
          </p:cNvPr>
          <p:cNvCxnSpPr>
            <a:cxnSpLocks/>
          </p:cNvCxnSpPr>
          <p:nvPr/>
        </p:nvCxnSpPr>
        <p:spPr>
          <a:xfrm flipV="1">
            <a:off x="2521381" y="3429000"/>
            <a:ext cx="1602502" cy="11676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306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B2B1-EDAE-1EC0-E3E8-A1F0866A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8D1B7-D988-34DF-A39E-50F08F869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Assumptions </a:t>
            </a:r>
          </a:p>
          <a:p>
            <a:endParaRPr lang="en-US" dirty="0"/>
          </a:p>
          <a:p>
            <a:r>
              <a:rPr lang="en-US" dirty="0"/>
              <a:t>No limit on the local memory</a:t>
            </a:r>
          </a:p>
          <a:p>
            <a:pPr lvl="1"/>
            <a:r>
              <a:rPr lang="en-US" dirty="0"/>
              <a:t>Putting a limit may require us to use a different set of instructions</a:t>
            </a:r>
          </a:p>
          <a:p>
            <a:endParaRPr lang="en-US" dirty="0"/>
          </a:p>
          <a:p>
            <a:r>
              <a:rPr lang="en-US" dirty="0"/>
              <a:t>Addition and Multiplications are each single cycle operations</a:t>
            </a:r>
          </a:p>
          <a:p>
            <a:pPr lvl="1"/>
            <a:r>
              <a:rPr lang="en-US" dirty="0"/>
              <a:t>Not necessarily true in modern architectures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01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  <a:blipFill>
                <a:blip r:embed="rId2"/>
                <a:stretch>
                  <a:fillRect l="-280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9EF2CCC9-85C3-9B60-3963-F94A7B988F55}"/>
              </a:ext>
            </a:extLst>
          </p:cNvPr>
          <p:cNvSpPr/>
          <p:nvPr/>
        </p:nvSpPr>
        <p:spPr>
          <a:xfrm>
            <a:off x="5109882" y="2689412"/>
            <a:ext cx="627530" cy="33528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F2AB2-E5DD-6C11-64D2-99406587F760}"/>
              </a:ext>
            </a:extLst>
          </p:cNvPr>
          <p:cNvSpPr txBox="1"/>
          <p:nvPr/>
        </p:nvSpPr>
        <p:spPr>
          <a:xfrm>
            <a:off x="5943600" y="4181146"/>
            <a:ext cx="2490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 cycles per entry of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1A8CB-C46A-E8A8-556D-46132F5C73BD}"/>
              </a:ext>
            </a:extLst>
          </p:cNvPr>
          <p:cNvSpPr txBox="1"/>
          <p:nvPr/>
        </p:nvSpPr>
        <p:spPr>
          <a:xfrm>
            <a:off x="6687671" y="5396753"/>
            <a:ext cx="354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Time for the entire matrix = </a:t>
            </a:r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014243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Execution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5"/>
                <a:ext cx="4562020" cy="4351338"/>
              </a:xfrm>
              <a:blipFill>
                <a:blip r:embed="rId2"/>
                <a:stretch>
                  <a:fillRect l="-280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9EF2CCC9-85C3-9B60-3963-F94A7B988F55}"/>
              </a:ext>
            </a:extLst>
          </p:cNvPr>
          <p:cNvSpPr/>
          <p:nvPr/>
        </p:nvSpPr>
        <p:spPr>
          <a:xfrm>
            <a:off x="5109882" y="2689412"/>
            <a:ext cx="627530" cy="33528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F2AB2-E5DD-6C11-64D2-99406587F760}"/>
              </a:ext>
            </a:extLst>
          </p:cNvPr>
          <p:cNvSpPr txBox="1"/>
          <p:nvPr/>
        </p:nvSpPr>
        <p:spPr>
          <a:xfrm>
            <a:off x="5943600" y="4181146"/>
            <a:ext cx="2490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 cycles per entry of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1A8CB-C46A-E8A8-556D-46132F5C73BD}"/>
              </a:ext>
            </a:extLst>
          </p:cNvPr>
          <p:cNvSpPr txBox="1"/>
          <p:nvPr/>
        </p:nvSpPr>
        <p:spPr>
          <a:xfrm>
            <a:off x="6687671" y="5396753"/>
            <a:ext cx="4629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Time for the entire matrix = </a:t>
            </a:r>
            <a:r>
              <a:rPr lang="en-US" dirty="0">
                <a:solidFill>
                  <a:srgbClr val="C00000"/>
                </a:solidFill>
              </a:rPr>
              <a:t>6*M*N </a:t>
            </a:r>
            <a:r>
              <a:rPr lang="en-US" dirty="0"/>
              <a:t>cycles</a:t>
            </a:r>
          </a:p>
        </p:txBody>
      </p:sp>
    </p:spTree>
    <p:extLst>
      <p:ext uri="{BB962C8B-B14F-4D97-AF65-F5344CB8AC3E}">
        <p14:creationId xmlns:p14="http://schemas.microsoft.com/office/powerpoint/2010/main" val="578876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0ECA-D0FB-D20E-2CA0-360D868D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4A427-5869-C84B-0096-9F2448C9F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0211" cy="4351338"/>
          </a:xfrm>
        </p:spPr>
        <p:txBody>
          <a:bodyPr/>
          <a:lstStyle/>
          <a:p>
            <a:r>
              <a:rPr lang="en-US" dirty="0"/>
              <a:t>Assume Processor is running at 2 GHz</a:t>
            </a:r>
          </a:p>
          <a:p>
            <a:endParaRPr lang="en-US" dirty="0"/>
          </a:p>
          <a:p>
            <a:r>
              <a:rPr lang="en-US" dirty="0"/>
              <a:t>Total time (in seconds) to execute Matrix-Vector Multiplication as per Basic Execution Model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???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0FC453-5A8D-7BC5-CEA7-B05BB46434CE}"/>
              </a:ext>
            </a:extLst>
          </p:cNvPr>
          <p:cNvGrpSpPr/>
          <p:nvPr/>
        </p:nvGrpSpPr>
        <p:grpSpPr>
          <a:xfrm>
            <a:off x="8073196" y="2591594"/>
            <a:ext cx="2057400" cy="2819400"/>
            <a:chOff x="3886200" y="1480810"/>
            <a:chExt cx="2133600" cy="32435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DE91B8-993C-D781-DDC0-9F27031F25D3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C5D550C-9EFF-2852-9785-D4F29FB3D184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Processor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223F697-E78D-228E-3918-4EAE4161FF93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11B07C6-7E37-F0F0-33BF-625CBB524D82}"/>
              </a:ext>
            </a:extLst>
          </p:cNvPr>
          <p:cNvSpPr txBox="1"/>
          <p:nvPr/>
        </p:nvSpPr>
        <p:spPr>
          <a:xfrm>
            <a:off x="10057119" y="4100338"/>
            <a:ext cx="84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 </a:t>
            </a:r>
            <a:r>
              <a:rPr lang="en-US" dirty="0" err="1">
                <a:solidFill>
                  <a:srgbClr val="C00000"/>
                </a:solidFill>
              </a:rPr>
              <a:t>Ghz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262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0ECA-D0FB-D20E-2CA0-360D868D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Execution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4A427-5869-C84B-0096-9F2448C9F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20211" cy="4351338"/>
              </a:xfrm>
            </p:spPr>
            <p:txBody>
              <a:bodyPr/>
              <a:lstStyle/>
              <a:p>
                <a:r>
                  <a:rPr lang="en-US" dirty="0"/>
                  <a:t>Assume Processor is running at 2 GHz</a:t>
                </a:r>
              </a:p>
              <a:p>
                <a:endParaRPr lang="en-US" dirty="0"/>
              </a:p>
              <a:p>
                <a:r>
                  <a:rPr lang="en-US" dirty="0"/>
                  <a:t>Total time to execute Matrix-Vector Multiplication as per Basic Execution Model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seconds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4A427-5869-C84B-0096-9F2448C9F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20211" cy="4351338"/>
              </a:xfrm>
              <a:blipFill>
                <a:blip r:embed="rId2"/>
                <a:stretch>
                  <a:fillRect l="-1989" t="-2241" r="-3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D0FC453-5A8D-7BC5-CEA7-B05BB46434CE}"/>
              </a:ext>
            </a:extLst>
          </p:cNvPr>
          <p:cNvGrpSpPr/>
          <p:nvPr/>
        </p:nvGrpSpPr>
        <p:grpSpPr>
          <a:xfrm>
            <a:off x="8073196" y="2591594"/>
            <a:ext cx="2057400" cy="2819400"/>
            <a:chOff x="3886200" y="1480810"/>
            <a:chExt cx="2133600" cy="32435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DE91B8-993C-D781-DDC0-9F27031F25D3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C5D550C-9EFF-2852-9785-D4F29FB3D184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</a:rPr>
                <a:t>Processor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223F697-E78D-228E-3918-4EAE4161FF93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11B07C6-7E37-F0F0-33BF-625CBB524D82}"/>
              </a:ext>
            </a:extLst>
          </p:cNvPr>
          <p:cNvSpPr txBox="1"/>
          <p:nvPr/>
        </p:nvSpPr>
        <p:spPr>
          <a:xfrm>
            <a:off x="10057119" y="4100338"/>
            <a:ext cx="84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 </a:t>
            </a:r>
            <a:r>
              <a:rPr lang="en-US" dirty="0" err="1">
                <a:solidFill>
                  <a:srgbClr val="C00000"/>
                </a:solidFill>
              </a:rPr>
              <a:t>Ghz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245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667E-6362-E033-DF4D-BD78E8CE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Execution Model: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B5224-D885-85EA-DF54-44DC03758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not account for memory transfer latencies</a:t>
            </a:r>
          </a:p>
          <a:p>
            <a:endParaRPr lang="en-US" dirty="0"/>
          </a:p>
          <a:p>
            <a:r>
              <a:rPr lang="en-US" dirty="0"/>
              <a:t>Does not account for differences in the number of cycles in various arithmetic operations</a:t>
            </a:r>
          </a:p>
          <a:p>
            <a:pPr lvl="1"/>
            <a:r>
              <a:rPr lang="en-US" dirty="0"/>
              <a:t>Multiplication usually requires more cycles than addition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75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E5BF-B360-7484-57FC-C3080ADD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Execution Model: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78B53-6BF6-71CB-C645-863E7124A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will be a part of more complicated models that we will study next</a:t>
            </a:r>
          </a:p>
          <a:p>
            <a:endParaRPr lang="en-US" dirty="0"/>
          </a:p>
          <a:p>
            <a:r>
              <a:rPr lang="en-US" dirty="0"/>
              <a:t>With modern pipelined architectures, 1 cycle per execute operation is not a bad assumption</a:t>
            </a:r>
          </a:p>
        </p:txBody>
      </p:sp>
    </p:spTree>
    <p:extLst>
      <p:ext uri="{BB962C8B-B14F-4D97-AF65-F5344CB8AC3E}">
        <p14:creationId xmlns:p14="http://schemas.microsoft.com/office/powerpoint/2010/main" val="3768452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Why Performance Modeling?</a:t>
            </a:r>
          </a:p>
          <a:p>
            <a:r>
              <a:rPr lang="en-US" dirty="0"/>
              <a:t>Processor Memory Architectures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Basic Execution Model</a:t>
            </a:r>
          </a:p>
          <a:p>
            <a:pPr lvl="1"/>
            <a:r>
              <a:rPr lang="en-US" dirty="0"/>
              <a:t>Memory System Modeling</a:t>
            </a:r>
          </a:p>
        </p:txBody>
      </p:sp>
    </p:spTree>
    <p:extLst>
      <p:ext uri="{BB962C8B-B14F-4D97-AF65-F5344CB8AC3E}">
        <p14:creationId xmlns:p14="http://schemas.microsoft.com/office/powerpoint/2010/main" val="2439461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1A46-B051-D9D4-3E62-5F3A9E37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D7EF0-530C-C7F9-3EE5-07CF98FD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8535"/>
          </a:xfrm>
        </p:spPr>
        <p:txBody>
          <a:bodyPr/>
          <a:lstStyle/>
          <a:p>
            <a:r>
              <a:rPr lang="en-US" dirty="0"/>
              <a:t>System performance (execution time) depends on the “rate” at which data can be accessed by the program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634DB-372C-870D-471F-F443C9FDBFF0}"/>
              </a:ext>
            </a:extLst>
          </p:cNvPr>
          <p:cNvSpPr txBox="1"/>
          <p:nvPr/>
        </p:nvSpPr>
        <p:spPr>
          <a:xfrm>
            <a:off x="3151367" y="37692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5026EE-5B2B-55A2-BA20-28BBD6EDE839}"/>
              </a:ext>
            </a:extLst>
          </p:cNvPr>
          <p:cNvSpPr/>
          <p:nvPr/>
        </p:nvSpPr>
        <p:spPr>
          <a:xfrm>
            <a:off x="2599115" y="421475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0BFE21-4752-A7CF-5128-B02A4F39310D}"/>
              </a:ext>
            </a:extLst>
          </p:cNvPr>
          <p:cNvCxnSpPr>
            <a:endCxn id="5" idx="0"/>
          </p:cNvCxnSpPr>
          <p:nvPr/>
        </p:nvCxnSpPr>
        <p:spPr>
          <a:xfrm>
            <a:off x="2979420" y="360515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FD23DD-D19E-FC25-C3C4-45AF46BADE8D}"/>
              </a:ext>
            </a:extLst>
          </p:cNvPr>
          <p:cNvCxnSpPr/>
          <p:nvPr/>
        </p:nvCxnSpPr>
        <p:spPr>
          <a:xfrm flipV="1">
            <a:off x="2846567" y="383375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C53532B-A493-76BF-0CDE-CEE88C10FB4A}"/>
              </a:ext>
            </a:extLst>
          </p:cNvPr>
          <p:cNvSpPr/>
          <p:nvPr/>
        </p:nvSpPr>
        <p:spPr>
          <a:xfrm>
            <a:off x="2247435" y="307175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A1340-51CE-0934-B22D-FFC85C9187DF}"/>
              </a:ext>
            </a:extLst>
          </p:cNvPr>
          <p:cNvSpPr txBox="1"/>
          <p:nvPr/>
        </p:nvSpPr>
        <p:spPr>
          <a:xfrm>
            <a:off x="6248400" y="2939097"/>
            <a:ext cx="39319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Execution Model</a:t>
            </a:r>
          </a:p>
          <a:p>
            <a:endParaRPr lang="en-US" dirty="0"/>
          </a:p>
          <a:p>
            <a:r>
              <a:rPr lang="en-US" b="1" dirty="0"/>
              <a:t>Latency: </a:t>
            </a:r>
            <a:r>
              <a:rPr lang="en-US" dirty="0"/>
              <a:t>Time to receive the first word since the fetch instruction</a:t>
            </a:r>
          </a:p>
          <a:p>
            <a:endParaRPr lang="en-US" dirty="0"/>
          </a:p>
          <a:p>
            <a:r>
              <a:rPr lang="en-US" b="1" dirty="0"/>
              <a:t>Bandwidth: </a:t>
            </a:r>
            <a:r>
              <a:rPr lang="en-US" dirty="0"/>
              <a:t>Rate of data transfer = </a:t>
            </a:r>
            <a:r>
              <a:rPr lang="en-US" dirty="0" err="1"/>
              <a:t>bitwidth</a:t>
            </a:r>
            <a:r>
              <a:rPr lang="en-US" dirty="0"/>
              <a:t> of the interconnect x frequency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D2491-DA41-7E1A-0F3D-6B302CE8488B}"/>
              </a:ext>
            </a:extLst>
          </p:cNvPr>
          <p:cNvSpPr txBox="1"/>
          <p:nvPr/>
        </p:nvSpPr>
        <p:spPr>
          <a:xfrm>
            <a:off x="6096000" y="5471160"/>
            <a:ext cx="4312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Execute – 1 cycle</a:t>
            </a:r>
          </a:p>
          <a:p>
            <a:endParaRPr lang="en-US" dirty="0"/>
          </a:p>
          <a:p>
            <a:r>
              <a:rPr lang="en-US" dirty="0"/>
              <a:t>Fetch – Latency + Data size/bandwidth cycles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DDB019-235D-1BA7-F9AF-05E4FC745A20}"/>
              </a:ext>
            </a:extLst>
          </p:cNvPr>
          <p:cNvSpPr/>
          <p:nvPr/>
        </p:nvSpPr>
        <p:spPr>
          <a:xfrm>
            <a:off x="6019799" y="5989657"/>
            <a:ext cx="4038600" cy="731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89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1A46-B051-D9D4-3E62-5F3A9E37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D7EF0-530C-C7F9-3EE5-07CF98FD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8535"/>
          </a:xfrm>
        </p:spPr>
        <p:txBody>
          <a:bodyPr/>
          <a:lstStyle/>
          <a:p>
            <a:r>
              <a:rPr lang="en-US" dirty="0"/>
              <a:t>System performance (execution time) depends on the “rate” at which data can be accessed by the program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634DB-372C-870D-471F-F443C9FDBFF0}"/>
              </a:ext>
            </a:extLst>
          </p:cNvPr>
          <p:cNvSpPr txBox="1"/>
          <p:nvPr/>
        </p:nvSpPr>
        <p:spPr>
          <a:xfrm>
            <a:off x="3151367" y="37692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5026EE-5B2B-55A2-BA20-28BBD6EDE839}"/>
              </a:ext>
            </a:extLst>
          </p:cNvPr>
          <p:cNvSpPr/>
          <p:nvPr/>
        </p:nvSpPr>
        <p:spPr>
          <a:xfrm>
            <a:off x="2599115" y="421475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0BFE21-4752-A7CF-5128-B02A4F39310D}"/>
              </a:ext>
            </a:extLst>
          </p:cNvPr>
          <p:cNvCxnSpPr>
            <a:endCxn id="5" idx="0"/>
          </p:cNvCxnSpPr>
          <p:nvPr/>
        </p:nvCxnSpPr>
        <p:spPr>
          <a:xfrm>
            <a:off x="2979420" y="360515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FD23DD-D19E-FC25-C3C4-45AF46BADE8D}"/>
              </a:ext>
            </a:extLst>
          </p:cNvPr>
          <p:cNvCxnSpPr/>
          <p:nvPr/>
        </p:nvCxnSpPr>
        <p:spPr>
          <a:xfrm flipV="1">
            <a:off x="2846567" y="383375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C53532B-A493-76BF-0CDE-CEE88C10FB4A}"/>
              </a:ext>
            </a:extLst>
          </p:cNvPr>
          <p:cNvSpPr/>
          <p:nvPr/>
        </p:nvSpPr>
        <p:spPr>
          <a:xfrm>
            <a:off x="2247435" y="307175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A1340-51CE-0934-B22D-FFC85C9187DF}"/>
              </a:ext>
            </a:extLst>
          </p:cNvPr>
          <p:cNvSpPr txBox="1"/>
          <p:nvPr/>
        </p:nvSpPr>
        <p:spPr>
          <a:xfrm>
            <a:off x="6248400" y="2939097"/>
            <a:ext cx="39319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Execution Model</a:t>
            </a:r>
          </a:p>
          <a:p>
            <a:endParaRPr lang="en-US" dirty="0"/>
          </a:p>
          <a:p>
            <a:r>
              <a:rPr lang="en-US" b="1" dirty="0"/>
              <a:t>Latency: </a:t>
            </a:r>
            <a:r>
              <a:rPr lang="en-US" dirty="0"/>
              <a:t>Time to receive the first word since the fetch instruction</a:t>
            </a:r>
          </a:p>
          <a:p>
            <a:endParaRPr lang="en-US" dirty="0"/>
          </a:p>
          <a:p>
            <a:r>
              <a:rPr lang="en-US" b="1" dirty="0"/>
              <a:t>Bandwidth: </a:t>
            </a:r>
            <a:r>
              <a:rPr lang="en-US" dirty="0"/>
              <a:t>Rate of data transfer = </a:t>
            </a:r>
            <a:r>
              <a:rPr lang="en-US" dirty="0" err="1">
                <a:solidFill>
                  <a:srgbClr val="C00000"/>
                </a:solidFill>
              </a:rPr>
              <a:t>bitwidth</a:t>
            </a:r>
            <a:r>
              <a:rPr lang="en-US" dirty="0"/>
              <a:t> of the interconnect x frequency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D2491-DA41-7E1A-0F3D-6B302CE8488B}"/>
              </a:ext>
            </a:extLst>
          </p:cNvPr>
          <p:cNvSpPr txBox="1"/>
          <p:nvPr/>
        </p:nvSpPr>
        <p:spPr>
          <a:xfrm>
            <a:off x="6096000" y="5471160"/>
            <a:ext cx="4312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Execute – 1 cycle</a:t>
            </a:r>
          </a:p>
          <a:p>
            <a:endParaRPr lang="en-US" dirty="0"/>
          </a:p>
          <a:p>
            <a:r>
              <a:rPr lang="en-US" dirty="0"/>
              <a:t>Fetch – Latency + Data size/bandwidth cycles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DDB019-235D-1BA7-F9AF-05E4FC745A20}"/>
              </a:ext>
            </a:extLst>
          </p:cNvPr>
          <p:cNvSpPr/>
          <p:nvPr/>
        </p:nvSpPr>
        <p:spPr>
          <a:xfrm>
            <a:off x="6019799" y="5989657"/>
            <a:ext cx="4038600" cy="731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893C01-EAE4-038A-41B3-2D4E0B7812CE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3570071" y="3953887"/>
            <a:ext cx="2727783" cy="8118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549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28C9-C72E-C334-7784-C7D54811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4F999-FBB4-413D-E749-F09AE794B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964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Latency:</a:t>
            </a:r>
            <a:r>
              <a:rPr lang="en-US" dirty="0"/>
              <a:t> Every fetch request requires some setup operation in memory before it can actually start transferring the data</a:t>
            </a:r>
          </a:p>
          <a:p>
            <a:endParaRPr lang="en-US" dirty="0"/>
          </a:p>
          <a:p>
            <a:r>
              <a:rPr lang="en-US" b="1" dirty="0"/>
              <a:t>Bandwidth:</a:t>
            </a:r>
            <a:r>
              <a:rPr lang="en-US" dirty="0"/>
              <a:t> Once the data starts transferring, it can continuously transfer without any interruptions depending upon the speed of the interconnect, as long as it is contiguous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810D55-9733-03FB-62B4-9B2D57D987D9}"/>
              </a:ext>
            </a:extLst>
          </p:cNvPr>
          <p:cNvSpPr/>
          <p:nvPr/>
        </p:nvSpPr>
        <p:spPr>
          <a:xfrm>
            <a:off x="3881658" y="5092784"/>
            <a:ext cx="5347121" cy="4844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902FCC-3993-7A1C-F132-1CE5BE176605}"/>
              </a:ext>
            </a:extLst>
          </p:cNvPr>
          <p:cNvCxnSpPr/>
          <p:nvPr/>
        </p:nvCxnSpPr>
        <p:spPr>
          <a:xfrm>
            <a:off x="4396387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20BF07-610B-E797-B225-623AAED66F07}"/>
              </a:ext>
            </a:extLst>
          </p:cNvPr>
          <p:cNvCxnSpPr/>
          <p:nvPr/>
        </p:nvCxnSpPr>
        <p:spPr>
          <a:xfrm>
            <a:off x="4900013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2338FB-98F0-DC67-B08B-DABB9F8D5BC6}"/>
              </a:ext>
            </a:extLst>
          </p:cNvPr>
          <p:cNvCxnSpPr/>
          <p:nvPr/>
        </p:nvCxnSpPr>
        <p:spPr>
          <a:xfrm>
            <a:off x="5427862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6CEB82-FD4C-6E17-4860-A22CD9142716}"/>
              </a:ext>
            </a:extLst>
          </p:cNvPr>
          <p:cNvCxnSpPr/>
          <p:nvPr/>
        </p:nvCxnSpPr>
        <p:spPr>
          <a:xfrm>
            <a:off x="5955711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A7A468-A907-257D-3480-5E15B44F1803}"/>
              </a:ext>
            </a:extLst>
          </p:cNvPr>
          <p:cNvCxnSpPr/>
          <p:nvPr/>
        </p:nvCxnSpPr>
        <p:spPr>
          <a:xfrm>
            <a:off x="8609085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D8D6F1-0F17-B514-B398-5876F0FFD68E}"/>
              </a:ext>
            </a:extLst>
          </p:cNvPr>
          <p:cNvCxnSpPr/>
          <p:nvPr/>
        </p:nvCxnSpPr>
        <p:spPr>
          <a:xfrm>
            <a:off x="6513839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4B358B-BAD6-CEBE-6254-56398D8E4C24}"/>
              </a:ext>
            </a:extLst>
          </p:cNvPr>
          <p:cNvCxnSpPr/>
          <p:nvPr/>
        </p:nvCxnSpPr>
        <p:spPr>
          <a:xfrm>
            <a:off x="7090133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421A8E-70BF-3B69-F8FA-3813DCD3E309}"/>
              </a:ext>
            </a:extLst>
          </p:cNvPr>
          <p:cNvCxnSpPr/>
          <p:nvPr/>
        </p:nvCxnSpPr>
        <p:spPr>
          <a:xfrm>
            <a:off x="7624038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552791-0C0E-2574-A1E2-22C4DF5584F4}"/>
              </a:ext>
            </a:extLst>
          </p:cNvPr>
          <p:cNvCxnSpPr/>
          <p:nvPr/>
        </p:nvCxnSpPr>
        <p:spPr>
          <a:xfrm>
            <a:off x="8127664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8312D9-7988-4930-897C-B7816D0364D2}"/>
              </a:ext>
            </a:extLst>
          </p:cNvPr>
          <p:cNvCxnSpPr/>
          <p:nvPr/>
        </p:nvCxnSpPr>
        <p:spPr>
          <a:xfrm flipV="1">
            <a:off x="2499966" y="5486400"/>
            <a:ext cx="1320128" cy="5631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3022050-DE1E-0FD5-AE67-CFD2A92536B0}"/>
              </a:ext>
            </a:extLst>
          </p:cNvPr>
          <p:cNvSpPr txBox="1"/>
          <p:nvPr/>
        </p:nvSpPr>
        <p:spPr>
          <a:xfrm>
            <a:off x="904310" y="6164631"/>
            <a:ext cx="6834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Fetch request: Given me 10 data elements starting at location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ADED0C-4280-BD03-7CD4-22027E0E66D4}"/>
              </a:ext>
            </a:extLst>
          </p:cNvPr>
          <p:cNvSpPr txBox="1"/>
          <p:nvPr/>
        </p:nvSpPr>
        <p:spPr>
          <a:xfrm>
            <a:off x="3669711" y="5637790"/>
            <a:ext cx="72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816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45F2-47BF-B764-2ADA-599FE77E8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EB3D2-447D-4708-A6F1-69750310D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14885" cy="4351338"/>
          </a:xfrm>
        </p:spPr>
        <p:txBody>
          <a:bodyPr>
            <a:normAutofit/>
          </a:bodyPr>
          <a:lstStyle/>
          <a:p>
            <a:r>
              <a:rPr lang="en-US" dirty="0"/>
              <a:t>Read A[0-31]</a:t>
            </a:r>
          </a:p>
          <a:p>
            <a:endParaRPr lang="en-US" dirty="0"/>
          </a:p>
          <a:p>
            <a:r>
              <a:rPr lang="en-US" dirty="0"/>
              <a:t>Latency: 10 cycles</a:t>
            </a:r>
          </a:p>
          <a:p>
            <a:endParaRPr lang="en-US" dirty="0"/>
          </a:p>
          <a:p>
            <a:r>
              <a:rPr lang="en-US" dirty="0"/>
              <a:t>Bandwidth: 8 data elements per cycle (assuming 8 bits/data element)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Number of cycles to finish the read operation?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60C2F-E59C-BDD1-465B-FB632E185BEC}"/>
              </a:ext>
            </a:extLst>
          </p:cNvPr>
          <p:cNvSpPr txBox="1"/>
          <p:nvPr/>
        </p:nvSpPr>
        <p:spPr>
          <a:xfrm>
            <a:off x="9309942" y="26186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6A3A15-8E3A-BB6F-A795-8FAAE1C73F2B}"/>
              </a:ext>
            </a:extLst>
          </p:cNvPr>
          <p:cNvSpPr/>
          <p:nvPr/>
        </p:nvSpPr>
        <p:spPr>
          <a:xfrm>
            <a:off x="8757690" y="306413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65AE3C-D19F-36C1-BB60-EF798F4BEDFF}"/>
              </a:ext>
            </a:extLst>
          </p:cNvPr>
          <p:cNvCxnSpPr>
            <a:endCxn id="5" idx="0"/>
          </p:cNvCxnSpPr>
          <p:nvPr/>
        </p:nvCxnSpPr>
        <p:spPr>
          <a:xfrm>
            <a:off x="9137995" y="245453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51DA3F-21B5-F0F5-96D7-8AFC98534A2E}"/>
              </a:ext>
            </a:extLst>
          </p:cNvPr>
          <p:cNvCxnSpPr/>
          <p:nvPr/>
        </p:nvCxnSpPr>
        <p:spPr>
          <a:xfrm flipV="1">
            <a:off x="9005142" y="268313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3A16E4-A950-FB26-2DAF-64BA3756E4FF}"/>
              </a:ext>
            </a:extLst>
          </p:cNvPr>
          <p:cNvSpPr/>
          <p:nvPr/>
        </p:nvSpPr>
        <p:spPr>
          <a:xfrm>
            <a:off x="8406010" y="192113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</p:spTree>
    <p:extLst>
      <p:ext uri="{BB962C8B-B14F-4D97-AF65-F5344CB8AC3E}">
        <p14:creationId xmlns:p14="http://schemas.microsoft.com/office/powerpoint/2010/main" val="1542950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45F2-47BF-B764-2ADA-599FE77E8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EB3D2-447D-4708-A6F1-69750310D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14885" cy="4351338"/>
          </a:xfrm>
        </p:spPr>
        <p:txBody>
          <a:bodyPr>
            <a:normAutofit/>
          </a:bodyPr>
          <a:lstStyle/>
          <a:p>
            <a:r>
              <a:rPr lang="en-US" dirty="0"/>
              <a:t>Read A[0-31]</a:t>
            </a:r>
          </a:p>
          <a:p>
            <a:endParaRPr lang="en-US" dirty="0"/>
          </a:p>
          <a:p>
            <a:r>
              <a:rPr lang="en-US" dirty="0"/>
              <a:t>Latency: 10 cycles</a:t>
            </a:r>
          </a:p>
          <a:p>
            <a:endParaRPr lang="en-US" dirty="0"/>
          </a:p>
          <a:p>
            <a:r>
              <a:rPr lang="en-US" dirty="0"/>
              <a:t>Bandwidth: 8 data elements per cycle (assuming 8 bits/data element)</a:t>
            </a:r>
          </a:p>
          <a:p>
            <a:endParaRPr lang="en-US" dirty="0"/>
          </a:p>
          <a:p>
            <a:r>
              <a:rPr lang="en-US" dirty="0"/>
              <a:t>Number of cycles to finish the read operation?</a:t>
            </a:r>
            <a:r>
              <a:rPr lang="en-US" dirty="0">
                <a:solidFill>
                  <a:srgbClr val="C00000"/>
                </a:solidFill>
              </a:rPr>
              <a:t>  10 + 4 = 14 cycles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60C2F-E59C-BDD1-465B-FB632E185BEC}"/>
              </a:ext>
            </a:extLst>
          </p:cNvPr>
          <p:cNvSpPr txBox="1"/>
          <p:nvPr/>
        </p:nvSpPr>
        <p:spPr>
          <a:xfrm>
            <a:off x="9309942" y="26186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6A3A15-8E3A-BB6F-A795-8FAAE1C73F2B}"/>
              </a:ext>
            </a:extLst>
          </p:cNvPr>
          <p:cNvSpPr/>
          <p:nvPr/>
        </p:nvSpPr>
        <p:spPr>
          <a:xfrm>
            <a:off x="8757690" y="306413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65AE3C-D19F-36C1-BB60-EF798F4BEDFF}"/>
              </a:ext>
            </a:extLst>
          </p:cNvPr>
          <p:cNvCxnSpPr>
            <a:endCxn id="5" idx="0"/>
          </p:cNvCxnSpPr>
          <p:nvPr/>
        </p:nvCxnSpPr>
        <p:spPr>
          <a:xfrm>
            <a:off x="9137995" y="245453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51DA3F-21B5-F0F5-96D7-8AFC98534A2E}"/>
              </a:ext>
            </a:extLst>
          </p:cNvPr>
          <p:cNvCxnSpPr/>
          <p:nvPr/>
        </p:nvCxnSpPr>
        <p:spPr>
          <a:xfrm flipV="1">
            <a:off x="9005142" y="268313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3A16E4-A950-FB26-2DAF-64BA3756E4FF}"/>
              </a:ext>
            </a:extLst>
          </p:cNvPr>
          <p:cNvSpPr/>
          <p:nvPr/>
        </p:nvSpPr>
        <p:spPr>
          <a:xfrm>
            <a:off x="8406010" y="192113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</p:spTree>
    <p:extLst>
      <p:ext uri="{BB962C8B-B14F-4D97-AF65-F5344CB8AC3E}">
        <p14:creationId xmlns:p14="http://schemas.microsoft.com/office/powerpoint/2010/main" val="3248262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3DFB-D6CB-9CE0-9C19-C95951CA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F053-F06B-223B-BC89-BF91F769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61A8D-D51D-EAC7-D883-34D9A326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14885" cy="4351338"/>
          </a:xfrm>
        </p:spPr>
        <p:txBody>
          <a:bodyPr>
            <a:normAutofit/>
          </a:bodyPr>
          <a:lstStyle/>
          <a:p>
            <a:r>
              <a:rPr lang="en-US" dirty="0"/>
              <a:t>Read A[0-31], A[32-63], A[64-95]</a:t>
            </a:r>
          </a:p>
          <a:p>
            <a:endParaRPr lang="en-US" dirty="0"/>
          </a:p>
          <a:p>
            <a:r>
              <a:rPr lang="en-US" dirty="0"/>
              <a:t>Latency: 10 cycles</a:t>
            </a:r>
          </a:p>
          <a:p>
            <a:endParaRPr lang="en-US" dirty="0"/>
          </a:p>
          <a:p>
            <a:r>
              <a:rPr lang="en-US" dirty="0"/>
              <a:t>Bandwidth: 8 data elements per cycle (assuming 8 bits/data element)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Number of cycles to finish the read operation?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8B7BA-BF62-2DE3-C758-4500C78CA9D4}"/>
              </a:ext>
            </a:extLst>
          </p:cNvPr>
          <p:cNvSpPr txBox="1"/>
          <p:nvPr/>
        </p:nvSpPr>
        <p:spPr>
          <a:xfrm>
            <a:off x="9309942" y="26186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BE51D4-03CA-66C1-0539-C6BB45F1473A}"/>
              </a:ext>
            </a:extLst>
          </p:cNvPr>
          <p:cNvSpPr/>
          <p:nvPr/>
        </p:nvSpPr>
        <p:spPr>
          <a:xfrm>
            <a:off x="8757690" y="306413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B79EC3-0AF6-F5DF-E844-05A570927EEA}"/>
              </a:ext>
            </a:extLst>
          </p:cNvPr>
          <p:cNvCxnSpPr>
            <a:endCxn id="5" idx="0"/>
          </p:cNvCxnSpPr>
          <p:nvPr/>
        </p:nvCxnSpPr>
        <p:spPr>
          <a:xfrm>
            <a:off x="9137995" y="245453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1CE65F-E1C8-D4EB-A91A-03C96CFD151F}"/>
              </a:ext>
            </a:extLst>
          </p:cNvPr>
          <p:cNvCxnSpPr/>
          <p:nvPr/>
        </p:nvCxnSpPr>
        <p:spPr>
          <a:xfrm flipV="1">
            <a:off x="9005142" y="268313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9FF387A-E156-2A49-34B8-B32335DE2193}"/>
              </a:ext>
            </a:extLst>
          </p:cNvPr>
          <p:cNvSpPr/>
          <p:nvPr/>
        </p:nvSpPr>
        <p:spPr>
          <a:xfrm>
            <a:off x="8406010" y="192113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</p:spTree>
    <p:extLst>
      <p:ext uri="{BB962C8B-B14F-4D97-AF65-F5344CB8AC3E}">
        <p14:creationId xmlns:p14="http://schemas.microsoft.com/office/powerpoint/2010/main" val="1484812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9B80-5E40-E9F1-DED4-EEC2FF4B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4982-1141-0C09-9398-1BB41818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EDF43-B726-B641-9E0D-7010ABCEB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1488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Read A[0-31], A[32-63], A[64-95]</a:t>
            </a:r>
          </a:p>
          <a:p>
            <a:endParaRPr lang="en-US" dirty="0"/>
          </a:p>
          <a:p>
            <a:r>
              <a:rPr lang="en-US" dirty="0"/>
              <a:t>Latency: 10 cycles</a:t>
            </a:r>
          </a:p>
          <a:p>
            <a:endParaRPr lang="en-US" dirty="0"/>
          </a:p>
          <a:p>
            <a:r>
              <a:rPr lang="en-US" dirty="0"/>
              <a:t>Bandwidth: 8 data elements per cycle (assuming 8 bits/data element)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Number of cycles to finish the read operation? 10 + 4 + 10 + 4 + 10 + 4 = 42 cycles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A0394-DE77-17D1-A269-BE053325AA71}"/>
              </a:ext>
            </a:extLst>
          </p:cNvPr>
          <p:cNvSpPr txBox="1"/>
          <p:nvPr/>
        </p:nvSpPr>
        <p:spPr>
          <a:xfrm>
            <a:off x="9309942" y="26186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5EBDCC-D68C-E65D-457E-653B1D7F181A}"/>
              </a:ext>
            </a:extLst>
          </p:cNvPr>
          <p:cNvSpPr/>
          <p:nvPr/>
        </p:nvSpPr>
        <p:spPr>
          <a:xfrm>
            <a:off x="8757690" y="306413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B51A7D-D7AC-ADCD-3FEC-B1E4F10990A0}"/>
              </a:ext>
            </a:extLst>
          </p:cNvPr>
          <p:cNvCxnSpPr>
            <a:endCxn id="5" idx="0"/>
          </p:cNvCxnSpPr>
          <p:nvPr/>
        </p:nvCxnSpPr>
        <p:spPr>
          <a:xfrm>
            <a:off x="9137995" y="245453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D216EC-D5E2-A762-9486-9EA600491CD6}"/>
              </a:ext>
            </a:extLst>
          </p:cNvPr>
          <p:cNvCxnSpPr/>
          <p:nvPr/>
        </p:nvCxnSpPr>
        <p:spPr>
          <a:xfrm flipV="1">
            <a:off x="9005142" y="268313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95341F6-1234-4106-2D5A-3452751044E7}"/>
              </a:ext>
            </a:extLst>
          </p:cNvPr>
          <p:cNvSpPr/>
          <p:nvPr/>
        </p:nvSpPr>
        <p:spPr>
          <a:xfrm>
            <a:off x="8406010" y="192113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</p:spTree>
    <p:extLst>
      <p:ext uri="{BB962C8B-B14F-4D97-AF65-F5344CB8AC3E}">
        <p14:creationId xmlns:p14="http://schemas.microsoft.com/office/powerpoint/2010/main" val="2798887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64ACB-B2A0-65EA-8059-A74FEF44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CC36-2D30-D8FE-AD70-3D75C596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9F20B-749F-03B7-0EDA-1F565E82C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14885" cy="4351338"/>
          </a:xfrm>
        </p:spPr>
        <p:txBody>
          <a:bodyPr>
            <a:normAutofit/>
          </a:bodyPr>
          <a:lstStyle/>
          <a:p>
            <a:r>
              <a:rPr lang="en-US" dirty="0"/>
              <a:t>Read A[0-95]</a:t>
            </a:r>
          </a:p>
          <a:p>
            <a:endParaRPr lang="en-US" dirty="0"/>
          </a:p>
          <a:p>
            <a:r>
              <a:rPr lang="en-US" dirty="0"/>
              <a:t>Latency: 10 cycles</a:t>
            </a:r>
          </a:p>
          <a:p>
            <a:endParaRPr lang="en-US" dirty="0"/>
          </a:p>
          <a:p>
            <a:r>
              <a:rPr lang="en-US" dirty="0"/>
              <a:t>Bandwidth: 8 data elements per cycle (assuming 8 bits/data element)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Number of cycles to finish the read operation?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8CA8D-AF16-18CA-9AE0-0994DAD90622}"/>
              </a:ext>
            </a:extLst>
          </p:cNvPr>
          <p:cNvSpPr txBox="1"/>
          <p:nvPr/>
        </p:nvSpPr>
        <p:spPr>
          <a:xfrm>
            <a:off x="9309942" y="26186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516F1A-88C8-E59E-8B9B-CAE57DA89CA9}"/>
              </a:ext>
            </a:extLst>
          </p:cNvPr>
          <p:cNvSpPr/>
          <p:nvPr/>
        </p:nvSpPr>
        <p:spPr>
          <a:xfrm>
            <a:off x="8757690" y="306413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0B02AED-421F-3EF8-A904-CE45264AA88F}"/>
              </a:ext>
            </a:extLst>
          </p:cNvPr>
          <p:cNvCxnSpPr>
            <a:endCxn id="5" idx="0"/>
          </p:cNvCxnSpPr>
          <p:nvPr/>
        </p:nvCxnSpPr>
        <p:spPr>
          <a:xfrm>
            <a:off x="9137995" y="245453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45CEEB-F120-828D-E91F-817BAA0D0DE8}"/>
              </a:ext>
            </a:extLst>
          </p:cNvPr>
          <p:cNvCxnSpPr/>
          <p:nvPr/>
        </p:nvCxnSpPr>
        <p:spPr>
          <a:xfrm flipV="1">
            <a:off x="9005142" y="268313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33B9710-B265-1248-8034-EF3DE98E2E2B}"/>
              </a:ext>
            </a:extLst>
          </p:cNvPr>
          <p:cNvSpPr/>
          <p:nvPr/>
        </p:nvSpPr>
        <p:spPr>
          <a:xfrm>
            <a:off x="8406010" y="192113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</p:spTree>
    <p:extLst>
      <p:ext uri="{BB962C8B-B14F-4D97-AF65-F5344CB8AC3E}">
        <p14:creationId xmlns:p14="http://schemas.microsoft.com/office/powerpoint/2010/main" val="2988952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4451-8DD2-0471-C030-7EB29EC60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4A92-3FF1-32CE-0668-F5FE1DA64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A404F-0AD9-96F9-25B8-CA71ED86E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14885" cy="4351338"/>
          </a:xfrm>
        </p:spPr>
        <p:txBody>
          <a:bodyPr>
            <a:normAutofit/>
          </a:bodyPr>
          <a:lstStyle/>
          <a:p>
            <a:r>
              <a:rPr lang="en-US" dirty="0"/>
              <a:t>Read A[0-95]</a:t>
            </a:r>
          </a:p>
          <a:p>
            <a:endParaRPr lang="en-US" dirty="0"/>
          </a:p>
          <a:p>
            <a:r>
              <a:rPr lang="en-US" dirty="0"/>
              <a:t>Latency: 10 cycles</a:t>
            </a:r>
          </a:p>
          <a:p>
            <a:endParaRPr lang="en-US" dirty="0"/>
          </a:p>
          <a:p>
            <a:r>
              <a:rPr lang="en-US" dirty="0"/>
              <a:t>Bandwidth: 8 data elements per cycle (assuming 8 bits/data element)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Number of cycles to finish the read operation? 10 + 12 = 22 cycles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6B1FA-B2FD-FE20-1223-6D44BD746D46}"/>
              </a:ext>
            </a:extLst>
          </p:cNvPr>
          <p:cNvSpPr txBox="1"/>
          <p:nvPr/>
        </p:nvSpPr>
        <p:spPr>
          <a:xfrm>
            <a:off x="9309942" y="26186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E33E2D-FDEC-D94D-A008-A52E9CC0F20E}"/>
              </a:ext>
            </a:extLst>
          </p:cNvPr>
          <p:cNvSpPr/>
          <p:nvPr/>
        </p:nvSpPr>
        <p:spPr>
          <a:xfrm>
            <a:off x="8757690" y="306413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D46CB8-BF1F-4F9F-9577-0736772F707F}"/>
              </a:ext>
            </a:extLst>
          </p:cNvPr>
          <p:cNvCxnSpPr>
            <a:endCxn id="5" idx="0"/>
          </p:cNvCxnSpPr>
          <p:nvPr/>
        </p:nvCxnSpPr>
        <p:spPr>
          <a:xfrm>
            <a:off x="9137995" y="245453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4BA935-B71A-D71C-4A4A-67511DBBC23A}"/>
              </a:ext>
            </a:extLst>
          </p:cNvPr>
          <p:cNvCxnSpPr/>
          <p:nvPr/>
        </p:nvCxnSpPr>
        <p:spPr>
          <a:xfrm flipV="1">
            <a:off x="9005142" y="268313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BCA8F67-0BBD-9C3C-C641-0D2CA4F82FD6}"/>
              </a:ext>
            </a:extLst>
          </p:cNvPr>
          <p:cNvSpPr/>
          <p:nvPr/>
        </p:nvSpPr>
        <p:spPr>
          <a:xfrm>
            <a:off x="8406010" y="192113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</p:spTree>
    <p:extLst>
      <p:ext uri="{BB962C8B-B14F-4D97-AF65-F5344CB8AC3E}">
        <p14:creationId xmlns:p14="http://schemas.microsoft.com/office/powerpoint/2010/main" val="1380753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7E51-C8EB-A50C-2FED-C7B620A6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CC3D-9BFF-E613-0C8C-39B44CC3C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By fetching the entire 96 words in a single go, we saved 20 cycles</a:t>
            </a:r>
          </a:p>
          <a:p>
            <a:endParaRPr lang="en-US" dirty="0"/>
          </a:p>
          <a:p>
            <a:r>
              <a:rPr lang="en-US" dirty="0"/>
              <a:t>Prefetching:</a:t>
            </a:r>
          </a:p>
          <a:p>
            <a:pPr lvl="1"/>
            <a:r>
              <a:rPr lang="en-US" dirty="0"/>
              <a:t>If you know what data your algorithm needs to access beforehand (not as easy as it sounds)</a:t>
            </a:r>
          </a:p>
          <a:p>
            <a:pPr lvl="1"/>
            <a:r>
              <a:rPr lang="en-US" dirty="0"/>
              <a:t>Prefetch it to save on latency</a:t>
            </a:r>
          </a:p>
          <a:p>
            <a:endParaRPr lang="en-US" dirty="0"/>
          </a:p>
          <a:p>
            <a:r>
              <a:rPr lang="en-US" dirty="0"/>
              <a:t>(Note: above 20 cycles is based on a simple model, in reality, it is difficult to exactly calculate the savings, but we do see substantial savings)</a:t>
            </a:r>
          </a:p>
        </p:txBody>
      </p:sp>
    </p:spTree>
    <p:extLst>
      <p:ext uri="{BB962C8B-B14F-4D97-AF65-F5344CB8AC3E}">
        <p14:creationId xmlns:p14="http://schemas.microsoft.com/office/powerpoint/2010/main" val="327432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7760D-31EA-B3D6-5B9B-FEF86C1F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A30A-8447-4C6C-DE29-1FBA2D22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2573F-0B34-AD92-9659-2064A93D5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8535"/>
          </a:xfrm>
        </p:spPr>
        <p:txBody>
          <a:bodyPr/>
          <a:lstStyle/>
          <a:p>
            <a:r>
              <a:rPr lang="en-US" dirty="0"/>
              <a:t>System performance (execution time) depends on the “rate” at which data can be accessed by the program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98957-A8CE-036B-9445-F1F7C4708939}"/>
              </a:ext>
            </a:extLst>
          </p:cNvPr>
          <p:cNvSpPr txBox="1"/>
          <p:nvPr/>
        </p:nvSpPr>
        <p:spPr>
          <a:xfrm>
            <a:off x="3151367" y="37692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10A411-C550-C218-3A1B-FD482BF76BE0}"/>
              </a:ext>
            </a:extLst>
          </p:cNvPr>
          <p:cNvSpPr/>
          <p:nvPr/>
        </p:nvSpPr>
        <p:spPr>
          <a:xfrm>
            <a:off x="2599115" y="421475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B78159-7D7F-AC17-960A-6AF20B2C4184}"/>
              </a:ext>
            </a:extLst>
          </p:cNvPr>
          <p:cNvCxnSpPr>
            <a:endCxn id="5" idx="0"/>
          </p:cNvCxnSpPr>
          <p:nvPr/>
        </p:nvCxnSpPr>
        <p:spPr>
          <a:xfrm>
            <a:off x="2979420" y="360515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357A38-8BE6-127F-DF49-7349BD38BC56}"/>
              </a:ext>
            </a:extLst>
          </p:cNvPr>
          <p:cNvCxnSpPr/>
          <p:nvPr/>
        </p:nvCxnSpPr>
        <p:spPr>
          <a:xfrm flipV="1">
            <a:off x="2846567" y="383375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9E960D7-8C13-7634-EB3C-5BAFF602E43C}"/>
              </a:ext>
            </a:extLst>
          </p:cNvPr>
          <p:cNvSpPr/>
          <p:nvPr/>
        </p:nvSpPr>
        <p:spPr>
          <a:xfrm>
            <a:off x="2247435" y="307175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4DF98-ED91-83E3-EA4D-8F20F4B4A46F}"/>
              </a:ext>
            </a:extLst>
          </p:cNvPr>
          <p:cNvSpPr txBox="1"/>
          <p:nvPr/>
        </p:nvSpPr>
        <p:spPr>
          <a:xfrm>
            <a:off x="6248400" y="2939097"/>
            <a:ext cx="39319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Execution Model</a:t>
            </a:r>
          </a:p>
          <a:p>
            <a:endParaRPr lang="en-US" dirty="0"/>
          </a:p>
          <a:p>
            <a:r>
              <a:rPr lang="en-US" b="1" dirty="0"/>
              <a:t>Latency: </a:t>
            </a:r>
            <a:r>
              <a:rPr lang="en-US" dirty="0"/>
              <a:t>Time to receive the first word since the fetch instruction</a:t>
            </a:r>
          </a:p>
          <a:p>
            <a:endParaRPr lang="en-US" dirty="0"/>
          </a:p>
          <a:p>
            <a:r>
              <a:rPr lang="en-US" b="1" dirty="0"/>
              <a:t>Bandwidth: </a:t>
            </a:r>
            <a:r>
              <a:rPr lang="en-US" dirty="0"/>
              <a:t>Rate of data transfer = </a:t>
            </a:r>
            <a:r>
              <a:rPr lang="en-US" dirty="0" err="1">
                <a:solidFill>
                  <a:srgbClr val="C00000"/>
                </a:solidFill>
              </a:rPr>
              <a:t>bitwidth</a:t>
            </a:r>
            <a:r>
              <a:rPr lang="en-US" dirty="0"/>
              <a:t> of the interconnect x frequency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10E3A1-FF0C-569F-D8A9-1632B69066B7}"/>
              </a:ext>
            </a:extLst>
          </p:cNvPr>
          <p:cNvSpPr txBox="1"/>
          <p:nvPr/>
        </p:nvSpPr>
        <p:spPr>
          <a:xfrm>
            <a:off x="6096000" y="5471160"/>
            <a:ext cx="4312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Execute – 1 cycle</a:t>
            </a:r>
          </a:p>
          <a:p>
            <a:endParaRPr lang="en-US" dirty="0"/>
          </a:p>
          <a:p>
            <a:r>
              <a:rPr lang="en-US" dirty="0"/>
              <a:t>Fetch – Latency + Data size/bandwidth cycles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CDF3EB-4E30-75F8-0579-4CF7B23238C2}"/>
              </a:ext>
            </a:extLst>
          </p:cNvPr>
          <p:cNvSpPr/>
          <p:nvPr/>
        </p:nvSpPr>
        <p:spPr>
          <a:xfrm>
            <a:off x="6019799" y="5989657"/>
            <a:ext cx="4038600" cy="731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B70CD7-A37E-90B6-71D7-90F7C472685A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3570071" y="3953887"/>
            <a:ext cx="2727783" cy="8118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285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225A8-6F88-AAEF-65C6-A9E68AA5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BC60-7560-E1A5-4183-E3495BD0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A5CF-335E-ABC1-9353-2722A83CA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964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Latency:</a:t>
            </a:r>
            <a:r>
              <a:rPr lang="en-US" dirty="0"/>
              <a:t> Every fetch request requires some setup operation in memory before it can actually start transferring the data</a:t>
            </a:r>
          </a:p>
          <a:p>
            <a:endParaRPr lang="en-US" dirty="0"/>
          </a:p>
          <a:p>
            <a:r>
              <a:rPr lang="en-US" b="1" dirty="0"/>
              <a:t>Bandwidth:</a:t>
            </a:r>
            <a:r>
              <a:rPr lang="en-US" dirty="0"/>
              <a:t> Once the data starts transferring, it can continuously transfer without any interruptions depending upon the speed of the interconnect, as long as it is contiguous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9740DD-9D06-E21E-E3F8-D0E748EE2CA2}"/>
              </a:ext>
            </a:extLst>
          </p:cNvPr>
          <p:cNvSpPr/>
          <p:nvPr/>
        </p:nvSpPr>
        <p:spPr>
          <a:xfrm>
            <a:off x="3881658" y="5092784"/>
            <a:ext cx="5347121" cy="4844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91C0BC-0E80-4861-EE47-E901AF9B4F8D}"/>
              </a:ext>
            </a:extLst>
          </p:cNvPr>
          <p:cNvCxnSpPr/>
          <p:nvPr/>
        </p:nvCxnSpPr>
        <p:spPr>
          <a:xfrm>
            <a:off x="4396387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A17439-70B7-B3F2-9647-E8BAA568595A}"/>
              </a:ext>
            </a:extLst>
          </p:cNvPr>
          <p:cNvCxnSpPr/>
          <p:nvPr/>
        </p:nvCxnSpPr>
        <p:spPr>
          <a:xfrm>
            <a:off x="4900013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3BDA7-7F5F-3B3A-FD96-4797DBE26754}"/>
              </a:ext>
            </a:extLst>
          </p:cNvPr>
          <p:cNvCxnSpPr/>
          <p:nvPr/>
        </p:nvCxnSpPr>
        <p:spPr>
          <a:xfrm>
            <a:off x="5427862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597DEB-32E1-F62C-41F7-86DC0B7B4462}"/>
              </a:ext>
            </a:extLst>
          </p:cNvPr>
          <p:cNvCxnSpPr/>
          <p:nvPr/>
        </p:nvCxnSpPr>
        <p:spPr>
          <a:xfrm>
            <a:off x="5955711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619681-E30D-2152-54CF-06ACDA91A81B}"/>
              </a:ext>
            </a:extLst>
          </p:cNvPr>
          <p:cNvCxnSpPr/>
          <p:nvPr/>
        </p:nvCxnSpPr>
        <p:spPr>
          <a:xfrm>
            <a:off x="8609085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07BF8A-083F-E7DA-BD19-A99B5D04C263}"/>
              </a:ext>
            </a:extLst>
          </p:cNvPr>
          <p:cNvCxnSpPr/>
          <p:nvPr/>
        </p:nvCxnSpPr>
        <p:spPr>
          <a:xfrm>
            <a:off x="6513839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2B7767-8CDA-8E91-9BD2-F79B8CAA9928}"/>
              </a:ext>
            </a:extLst>
          </p:cNvPr>
          <p:cNvCxnSpPr/>
          <p:nvPr/>
        </p:nvCxnSpPr>
        <p:spPr>
          <a:xfrm>
            <a:off x="7090133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BB76CC-0073-E72D-8E70-2D4253FA3FAB}"/>
              </a:ext>
            </a:extLst>
          </p:cNvPr>
          <p:cNvCxnSpPr/>
          <p:nvPr/>
        </p:nvCxnSpPr>
        <p:spPr>
          <a:xfrm>
            <a:off x="7624038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9AE9EF-20D4-AB75-B3F1-F1D75891ED80}"/>
              </a:ext>
            </a:extLst>
          </p:cNvPr>
          <p:cNvCxnSpPr/>
          <p:nvPr/>
        </p:nvCxnSpPr>
        <p:spPr>
          <a:xfrm>
            <a:off x="8127664" y="5092784"/>
            <a:ext cx="0" cy="48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1260F3-7604-2F53-141A-C342AD2C299E}"/>
              </a:ext>
            </a:extLst>
          </p:cNvPr>
          <p:cNvCxnSpPr/>
          <p:nvPr/>
        </p:nvCxnSpPr>
        <p:spPr>
          <a:xfrm flipV="1">
            <a:off x="2499966" y="5486400"/>
            <a:ext cx="1320128" cy="5631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740515-530D-DF45-492D-D9B4469DD291}"/>
              </a:ext>
            </a:extLst>
          </p:cNvPr>
          <p:cNvSpPr txBox="1"/>
          <p:nvPr/>
        </p:nvSpPr>
        <p:spPr>
          <a:xfrm>
            <a:off x="904310" y="6164631"/>
            <a:ext cx="6834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Fetch request: Given me 10 data elements starting at location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9EA38-FC9D-4321-347B-498C9B5E6B0A}"/>
              </a:ext>
            </a:extLst>
          </p:cNvPr>
          <p:cNvSpPr txBox="1"/>
          <p:nvPr/>
        </p:nvSpPr>
        <p:spPr>
          <a:xfrm>
            <a:off x="3669711" y="5637790"/>
            <a:ext cx="72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81674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A665-8E5D-AC07-97BD-48618E76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System: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B67A-4081-3A8A-0DE7-F6FE777C1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will be measured in terms of “System Performance Metric”</a:t>
            </a:r>
          </a:p>
          <a:p>
            <a:endParaRPr lang="en-US" dirty="0"/>
          </a:p>
          <a:p>
            <a:r>
              <a:rPr lang="en-US" dirty="0"/>
              <a:t>Number of “useful computations” performed per second</a:t>
            </a:r>
          </a:p>
          <a:p>
            <a:endParaRPr lang="en-US" dirty="0"/>
          </a:p>
          <a:p>
            <a:r>
              <a:rPr lang="en-US" dirty="0"/>
              <a:t>Useful computation – arithmetic computations such as Add, </a:t>
            </a:r>
            <a:r>
              <a:rPr lang="en-US" dirty="0" err="1"/>
              <a:t>Mult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Does not include memory fetching time in calculations</a:t>
            </a:r>
          </a:p>
        </p:txBody>
      </p:sp>
    </p:spTree>
    <p:extLst>
      <p:ext uri="{BB962C8B-B14F-4D97-AF65-F5344CB8AC3E}">
        <p14:creationId xmlns:p14="http://schemas.microsoft.com/office/powerpoint/2010/main" val="42386996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D97C-4036-6208-510F-F77D8C2A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30AA-AECF-8E98-6DD4-1FCC5BE3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FLOPs – Floating Point Operations Per Second</a:t>
            </a:r>
          </a:p>
          <a:p>
            <a:endParaRPr lang="en-US" dirty="0"/>
          </a:p>
          <a:p>
            <a:r>
              <a:rPr lang="en-US" dirty="0"/>
              <a:t>Number of useful “floating point” operations in a second</a:t>
            </a:r>
          </a:p>
          <a:p>
            <a:endParaRPr lang="en-US" dirty="0"/>
          </a:p>
          <a:p>
            <a:r>
              <a:rPr lang="en-US" dirty="0"/>
              <a:t>GFLOPs – Giga (1024) Floating Point Operations Per Second</a:t>
            </a:r>
          </a:p>
          <a:p>
            <a:endParaRPr lang="en-US" dirty="0"/>
          </a:p>
          <a:p>
            <a:r>
              <a:rPr lang="en-US" dirty="0"/>
              <a:t>Note: Unless explicitly specified, we will use 64 bit floating point as data type for performance modeling in this class. </a:t>
            </a:r>
          </a:p>
          <a:p>
            <a:endParaRPr lang="en-US" dirty="0"/>
          </a:p>
          <a:p>
            <a:r>
              <a:rPr lang="en-US" dirty="0"/>
              <a:t>We will call each data element as a </a:t>
            </a:r>
            <a:r>
              <a:rPr lang="en-US" b="1" dirty="0"/>
              <a:t>word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61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D97C-4036-6208-510F-F77D8C2A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30AA-AECF-8E98-6DD4-1FCC5BE3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1024 read operations</a:t>
            </a:r>
          </a:p>
          <a:p>
            <a:endParaRPr lang="en-US" dirty="0"/>
          </a:p>
          <a:p>
            <a:r>
              <a:rPr lang="en-US" dirty="0"/>
              <a:t>For every two read operations, we perform one add operation.</a:t>
            </a:r>
          </a:p>
          <a:p>
            <a:endParaRPr lang="en-US" dirty="0"/>
          </a:p>
          <a:p>
            <a:r>
              <a:rPr lang="en-US" dirty="0"/>
              <a:t>All the operations mentioned above take a total of 10 seconds.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What is the system performance?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7763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D97C-4036-6208-510F-F77D8C2A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30AA-AECF-8E98-6DD4-1FCC5BE3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1024 read operations</a:t>
            </a:r>
          </a:p>
          <a:p>
            <a:endParaRPr lang="en-US" dirty="0"/>
          </a:p>
          <a:p>
            <a:r>
              <a:rPr lang="en-US" dirty="0"/>
              <a:t>For every two read operations, we perform one add operation.</a:t>
            </a:r>
          </a:p>
          <a:p>
            <a:endParaRPr lang="en-US" dirty="0"/>
          </a:p>
          <a:p>
            <a:r>
              <a:rPr lang="en-US" dirty="0"/>
              <a:t>All the operations mentioned above take a total of 10 seconds.</a:t>
            </a:r>
          </a:p>
          <a:p>
            <a:endParaRPr lang="en-US" dirty="0"/>
          </a:p>
          <a:p>
            <a:r>
              <a:rPr lang="en-US" dirty="0"/>
              <a:t>What is the system performance? </a:t>
            </a:r>
            <a:r>
              <a:rPr lang="en-US" dirty="0">
                <a:solidFill>
                  <a:srgbClr val="C00000"/>
                </a:solidFill>
              </a:rPr>
              <a:t>512 Floating point operations in 10 seconds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D97C-4036-6208-510F-F77D8C2A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30AA-AECF-8E98-6DD4-1FCC5BE3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1024 read operations</a:t>
            </a:r>
          </a:p>
          <a:p>
            <a:endParaRPr lang="en-US" dirty="0"/>
          </a:p>
          <a:p>
            <a:r>
              <a:rPr lang="en-US" dirty="0"/>
              <a:t>For every two read operations, we perform one add operation.</a:t>
            </a:r>
          </a:p>
          <a:p>
            <a:endParaRPr lang="en-US" dirty="0"/>
          </a:p>
          <a:p>
            <a:r>
              <a:rPr lang="en-US" dirty="0"/>
              <a:t>All the operations mentioned above take a total of 10 seconds.</a:t>
            </a:r>
          </a:p>
          <a:p>
            <a:endParaRPr lang="en-US" dirty="0"/>
          </a:p>
          <a:p>
            <a:r>
              <a:rPr lang="en-US" dirty="0"/>
              <a:t>What is the system performance? </a:t>
            </a:r>
            <a:r>
              <a:rPr lang="en-US" dirty="0">
                <a:solidFill>
                  <a:srgbClr val="C00000"/>
                </a:solidFill>
              </a:rPr>
              <a:t>51.2 FLOPs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473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D97C-4036-6208-510F-F77D8C2A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30AA-AECF-8E98-6DD4-1FCC5BE3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1024 read operations</a:t>
            </a:r>
          </a:p>
          <a:p>
            <a:endParaRPr lang="en-US" dirty="0"/>
          </a:p>
          <a:p>
            <a:r>
              <a:rPr lang="en-US" dirty="0"/>
              <a:t>For every two read operations, we perform one add operation.</a:t>
            </a:r>
          </a:p>
          <a:p>
            <a:endParaRPr lang="en-US" dirty="0"/>
          </a:p>
          <a:p>
            <a:r>
              <a:rPr lang="en-US" dirty="0"/>
              <a:t>All the operations mentioned above take a total of 10 seconds.</a:t>
            </a:r>
          </a:p>
          <a:p>
            <a:endParaRPr lang="en-US" dirty="0"/>
          </a:p>
          <a:p>
            <a:r>
              <a:rPr lang="en-US" dirty="0"/>
              <a:t>What is the system performance? </a:t>
            </a:r>
            <a:r>
              <a:rPr lang="en-US" dirty="0">
                <a:solidFill>
                  <a:srgbClr val="C00000"/>
                </a:solidFill>
              </a:rPr>
              <a:t>0.05 GFLOPs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857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ACD9-5C3C-BEFD-AD94-769EF854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CFDEB-B3F7-1D55-0811-CFF73B947220}"/>
              </a:ext>
            </a:extLst>
          </p:cNvPr>
          <p:cNvSpPr txBox="1"/>
          <p:nvPr/>
        </p:nvSpPr>
        <p:spPr>
          <a:xfrm>
            <a:off x="3951467" y="27490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87CD84-EC0D-B996-D39D-4B5C6D325221}"/>
              </a:ext>
            </a:extLst>
          </p:cNvPr>
          <p:cNvSpPr/>
          <p:nvPr/>
        </p:nvSpPr>
        <p:spPr>
          <a:xfrm>
            <a:off x="3399215" y="3194551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77B04F-14FE-1A6E-F7E9-304FEC710E7A}"/>
              </a:ext>
            </a:extLst>
          </p:cNvPr>
          <p:cNvCxnSpPr>
            <a:endCxn id="5" idx="0"/>
          </p:cNvCxnSpPr>
          <p:nvPr/>
        </p:nvCxnSpPr>
        <p:spPr>
          <a:xfrm>
            <a:off x="3779520" y="258495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4EB695-BA45-38C5-A78C-01E28B531793}"/>
              </a:ext>
            </a:extLst>
          </p:cNvPr>
          <p:cNvCxnSpPr/>
          <p:nvPr/>
        </p:nvCxnSpPr>
        <p:spPr>
          <a:xfrm flipV="1">
            <a:off x="3646667" y="2813551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C80DB11-A117-C1E7-F3A5-148ACA31403B}"/>
              </a:ext>
            </a:extLst>
          </p:cNvPr>
          <p:cNvSpPr/>
          <p:nvPr/>
        </p:nvSpPr>
        <p:spPr>
          <a:xfrm>
            <a:off x="3047535" y="2051551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B31FABF-28BD-8FE2-3FB3-6BE048D34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436" y="1990591"/>
            <a:ext cx="4556757" cy="2291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Processor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2 </a:t>
            </a:r>
            <a:r>
              <a:rPr lang="en-US" sz="1800" dirty="0" err="1">
                <a:latin typeface="+mn-lt"/>
              </a:rPr>
              <a:t>Ghz</a:t>
            </a:r>
            <a:r>
              <a:rPr lang="en-US" sz="1800" dirty="0">
                <a:latin typeface="+mn-lt"/>
              </a:rPr>
              <a:t> (0.5 ns per cycle)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b="1" dirty="0">
                <a:latin typeface="+mn-lt"/>
              </a:rPr>
              <a:t>Memory</a:t>
            </a:r>
            <a:r>
              <a:rPr lang="en-US" sz="1800" dirty="0">
                <a:latin typeface="+mn-lt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Memory Latency  = 10 ns (20 cycles)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n-lt"/>
              </a:rPr>
              <a:t>Bandwidth    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= 64 bits at 1 GHz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(64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+mn-lt"/>
              </a:rPr>
              <a:t>Gbits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/sec or  8 GB/sec) or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(64 bits in every 2 processor cycles)</a:t>
            </a: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324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6C9B-8A24-0C02-6BDE-7CFBC348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02D53-6DBB-0433-2DE6-D135EC5FD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We will consider three metrics:</a:t>
            </a:r>
          </a:p>
          <a:p>
            <a:pPr lvl="1"/>
            <a:r>
              <a:rPr lang="en-US" dirty="0"/>
              <a:t>Peak Performance</a:t>
            </a:r>
          </a:p>
          <a:p>
            <a:pPr lvl="1"/>
            <a:r>
              <a:rPr lang="en-US" dirty="0"/>
              <a:t>Sustained Performance (best case)</a:t>
            </a:r>
          </a:p>
          <a:p>
            <a:pPr lvl="1"/>
            <a:r>
              <a:rPr lang="en-US" dirty="0"/>
              <a:t>Sustained Performance (worst case)</a:t>
            </a:r>
          </a:p>
          <a:p>
            <a:endParaRPr lang="en-US" dirty="0"/>
          </a:p>
          <a:p>
            <a:r>
              <a:rPr lang="en-US" dirty="0"/>
              <a:t>Actual obtained performance on the hardware should be somewhere in between Sustained Performance (worst case) and Peak Performance</a:t>
            </a:r>
          </a:p>
          <a:p>
            <a:pPr lvl="1"/>
            <a:r>
              <a:rPr lang="en-US" dirty="0"/>
              <a:t>If not, there was some error in modeling or the implementation of the algorithm</a:t>
            </a:r>
          </a:p>
          <a:p>
            <a:pPr lvl="1"/>
            <a:r>
              <a:rPr lang="en-US" dirty="0"/>
              <a:t>It can be higher or lower than the Sustained Performance (best case), this information governs what optimizations to use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476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51C3-06F2-569B-BF29-5676A2A7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System Modeling: Peak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31ACE-34C3-58CB-BD3D-9FBF39DE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Captures the Raw Computer power of the processor (memory not considered)</a:t>
            </a:r>
          </a:p>
          <a:p>
            <a:endParaRPr lang="en-US" dirty="0"/>
          </a:p>
          <a:p>
            <a:r>
              <a:rPr lang="en-US" dirty="0"/>
              <a:t>Peak Performance = Clock Rate X Num ops per cycle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= 2 (</a:t>
            </a:r>
            <a:r>
              <a:rPr lang="en-US" dirty="0" err="1"/>
              <a:t>Ghz</a:t>
            </a:r>
            <a:r>
              <a:rPr lang="en-US" dirty="0"/>
              <a:t>) x 1 (ops/cycle)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</a:rPr>
              <a:t>= 2 Giga Ops per Second </a:t>
            </a:r>
          </a:p>
          <a:p>
            <a:r>
              <a:rPr lang="en-US" dirty="0"/>
              <a:t>If Floating point ops </a:t>
            </a:r>
            <a:r>
              <a:rPr lang="en-US" dirty="0">
                <a:solidFill>
                  <a:srgbClr val="C00000"/>
                </a:solidFill>
              </a:rPr>
              <a:t>= 2 GFLOPs (Giga Floating Point Operations per second)</a:t>
            </a:r>
          </a:p>
        </p:txBody>
      </p:sp>
    </p:spTree>
    <p:extLst>
      <p:ext uri="{BB962C8B-B14F-4D97-AF65-F5344CB8AC3E}">
        <p14:creationId xmlns:p14="http://schemas.microsoft.com/office/powerpoint/2010/main" val="11590339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51C3-06F2-569B-BF29-5676A2A7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System Modeling: Peak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31ACE-34C3-58CB-BD3D-9FBF39DE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Captures the Raw Computer power of the processor (memory not considered)</a:t>
            </a:r>
          </a:p>
          <a:p>
            <a:endParaRPr lang="en-US" dirty="0"/>
          </a:p>
          <a:p>
            <a:r>
              <a:rPr lang="en-US" dirty="0"/>
              <a:t>Peak Performance = Clock Rate X Num ops per cycle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= 2 (</a:t>
            </a:r>
            <a:r>
              <a:rPr lang="en-US" dirty="0" err="1"/>
              <a:t>Ghz</a:t>
            </a:r>
            <a:r>
              <a:rPr lang="en-US" dirty="0"/>
              <a:t>) x </a:t>
            </a: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/>
              <a:t> (ops/cycle) </a:t>
            </a:r>
          </a:p>
          <a:p>
            <a:pPr marL="0" indent="0" algn="ctr">
              <a:buNone/>
            </a:pPr>
            <a:r>
              <a:rPr lang="en-US" dirty="0"/>
              <a:t>= 2 Giga Ops per Second </a:t>
            </a:r>
          </a:p>
          <a:p>
            <a:r>
              <a:rPr lang="en-US" dirty="0"/>
              <a:t>If Floating point ops = 2 GFLOPs (Giga Floating Point Operations per second)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03C03-79C6-9E9B-FB12-C2F6F737D3BB}"/>
              </a:ext>
            </a:extLst>
          </p:cNvPr>
          <p:cNvSpPr txBox="1"/>
          <p:nvPr/>
        </p:nvSpPr>
        <p:spPr>
          <a:xfrm>
            <a:off x="8774607" y="3572821"/>
            <a:ext cx="316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multiple processors/GPUs, this number will change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3BE189-95EF-C2E9-CDF3-6E1EE7F1F9F1}"/>
              </a:ext>
            </a:extLst>
          </p:cNvPr>
          <p:cNvCxnSpPr/>
          <p:nvPr/>
        </p:nvCxnSpPr>
        <p:spPr>
          <a:xfrm flipH="1">
            <a:off x="6182797" y="3839269"/>
            <a:ext cx="2555476" cy="49050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1489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50A-3D02-E9B9-BBF9-F34054DF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(Worst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Each fetch takes: Latency + (data size = 1)/bandwidth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b="1" dirty="0"/>
                  <a:t> latency number of cycles</a:t>
                </a:r>
              </a:p>
              <a:p>
                <a:endParaRPr lang="en-US" dirty="0"/>
              </a:p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  <a:blipFill>
                <a:blip r:embed="rId2"/>
                <a:stretch>
                  <a:fillRect l="-1043" t="-2516" b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73819B7-0A4A-AA85-7523-61C158DC7D46}"/>
              </a:ext>
            </a:extLst>
          </p:cNvPr>
          <p:cNvSpPr txBox="1"/>
          <p:nvPr/>
        </p:nvSpPr>
        <p:spPr>
          <a:xfrm>
            <a:off x="6340243" y="3796879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Latency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FF748-5BBC-3600-AA3D-C5979BF15DAC}"/>
              </a:ext>
            </a:extLst>
          </p:cNvPr>
          <p:cNvSpPr txBox="1"/>
          <p:nvPr/>
        </p:nvSpPr>
        <p:spPr>
          <a:xfrm>
            <a:off x="6340243" y="4290686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Latency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D2A7C-1CB7-207D-A9B4-0360080239A1}"/>
              </a:ext>
            </a:extLst>
          </p:cNvPr>
          <p:cNvSpPr txBox="1"/>
          <p:nvPr/>
        </p:nvSpPr>
        <p:spPr>
          <a:xfrm>
            <a:off x="6340243" y="4800493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A722B-0D3B-7F2E-6730-E30CDBBD3B0A}"/>
              </a:ext>
            </a:extLst>
          </p:cNvPr>
          <p:cNvSpPr txBox="1"/>
          <p:nvPr/>
        </p:nvSpPr>
        <p:spPr>
          <a:xfrm>
            <a:off x="6340243" y="5292680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Latency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BD130-D86B-F29A-1086-1E4FCD28BE41}"/>
              </a:ext>
            </a:extLst>
          </p:cNvPr>
          <p:cNvSpPr txBox="1"/>
          <p:nvPr/>
        </p:nvSpPr>
        <p:spPr>
          <a:xfrm>
            <a:off x="6340243" y="5739567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290CB-1D84-D09B-5791-D364C02DDC1F}"/>
              </a:ext>
            </a:extLst>
          </p:cNvPr>
          <p:cNvSpPr txBox="1"/>
          <p:nvPr/>
        </p:nvSpPr>
        <p:spPr>
          <a:xfrm>
            <a:off x="6340243" y="6123543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Latency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2A9132-D2E3-2669-C643-A149A3FBC951}"/>
              </a:ext>
            </a:extLst>
          </p:cNvPr>
          <p:cNvCxnSpPr>
            <a:cxnSpLocks/>
          </p:cNvCxnSpPr>
          <p:nvPr/>
        </p:nvCxnSpPr>
        <p:spPr>
          <a:xfrm flipH="1">
            <a:off x="3197372" y="4003307"/>
            <a:ext cx="3100482" cy="721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B9C9FE-81C5-04A0-5977-7AAC696D7102}"/>
              </a:ext>
            </a:extLst>
          </p:cNvPr>
          <p:cNvCxnSpPr>
            <a:cxnSpLocks/>
          </p:cNvCxnSpPr>
          <p:nvPr/>
        </p:nvCxnSpPr>
        <p:spPr>
          <a:xfrm flipH="1">
            <a:off x="3197372" y="4475352"/>
            <a:ext cx="3100482" cy="721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9DC657-46B3-6C9E-CA19-09C6DBB5D71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545759" y="4985159"/>
            <a:ext cx="179448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B15A8D-A4FB-9A6D-5363-2D0ABB8F510B}"/>
              </a:ext>
            </a:extLst>
          </p:cNvPr>
          <p:cNvCxnSpPr>
            <a:cxnSpLocks/>
          </p:cNvCxnSpPr>
          <p:nvPr/>
        </p:nvCxnSpPr>
        <p:spPr>
          <a:xfrm flipH="1" flipV="1">
            <a:off x="2870368" y="5477346"/>
            <a:ext cx="3469875" cy="84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40833A-2553-737C-BC69-6B8CACF2A8DF}"/>
              </a:ext>
            </a:extLst>
          </p:cNvPr>
          <p:cNvCxnSpPr>
            <a:cxnSpLocks/>
          </p:cNvCxnSpPr>
          <p:nvPr/>
        </p:nvCxnSpPr>
        <p:spPr>
          <a:xfrm flipH="1">
            <a:off x="3197372" y="5877813"/>
            <a:ext cx="32851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349C69-E0B5-24B5-7F19-A44644DE64A8}"/>
              </a:ext>
            </a:extLst>
          </p:cNvPr>
          <p:cNvCxnSpPr>
            <a:cxnSpLocks/>
          </p:cNvCxnSpPr>
          <p:nvPr/>
        </p:nvCxnSpPr>
        <p:spPr>
          <a:xfrm flipH="1">
            <a:off x="2725033" y="6308209"/>
            <a:ext cx="3615210" cy="4414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6724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63C6-4615-4E7B-C937-87EEE130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(Worst Case)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13729C-04B7-A339-CAC8-59973B0342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Each fetch takes: Latency + (data size = 1)/bandwidth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b="1" dirty="0"/>
                  <a:t> latency number of cycles</a:t>
                </a:r>
              </a:p>
              <a:p>
                <a:endParaRPr lang="en-US" dirty="0"/>
              </a:p>
              <a:p>
                <a:r>
                  <a:rPr lang="en-US" dirty="0"/>
                  <a:t>Example: When Prefetching is not used</a:t>
                </a:r>
              </a:p>
              <a:p>
                <a:pPr lvl="1"/>
                <a:r>
                  <a:rPr lang="en-US" dirty="0"/>
                  <a:t>In reality, the data size will be cache line length, but we are simplifying the model here</a:t>
                </a:r>
              </a:p>
              <a:p>
                <a:pPr lvl="1"/>
                <a:r>
                  <a:rPr lang="en-US" dirty="0"/>
                  <a:t>Also, the sophisticated caching mechanisms in modern architectures ensure the performance is not this bad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13729C-04B7-A339-CAC8-59973B0342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2887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ACD9-5C3C-BEFD-AD94-769EF854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(Worst Case)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CFDEB-B3F7-1D55-0811-CFF73B947220}"/>
              </a:ext>
            </a:extLst>
          </p:cNvPr>
          <p:cNvSpPr txBox="1"/>
          <p:nvPr/>
        </p:nvSpPr>
        <p:spPr>
          <a:xfrm>
            <a:off x="3951467" y="27490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87CD84-EC0D-B996-D39D-4B5C6D325221}"/>
              </a:ext>
            </a:extLst>
          </p:cNvPr>
          <p:cNvSpPr/>
          <p:nvPr/>
        </p:nvSpPr>
        <p:spPr>
          <a:xfrm>
            <a:off x="3399215" y="3194551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77B04F-14FE-1A6E-F7E9-304FEC710E7A}"/>
              </a:ext>
            </a:extLst>
          </p:cNvPr>
          <p:cNvCxnSpPr>
            <a:endCxn id="5" idx="0"/>
          </p:cNvCxnSpPr>
          <p:nvPr/>
        </p:nvCxnSpPr>
        <p:spPr>
          <a:xfrm>
            <a:off x="3779520" y="258495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4EB695-BA45-38C5-A78C-01E28B531793}"/>
              </a:ext>
            </a:extLst>
          </p:cNvPr>
          <p:cNvCxnSpPr/>
          <p:nvPr/>
        </p:nvCxnSpPr>
        <p:spPr>
          <a:xfrm flipV="1">
            <a:off x="3646667" y="2813551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C80DB11-A117-C1E7-F3A5-148ACA31403B}"/>
              </a:ext>
            </a:extLst>
          </p:cNvPr>
          <p:cNvSpPr/>
          <p:nvPr/>
        </p:nvSpPr>
        <p:spPr>
          <a:xfrm>
            <a:off x="3047535" y="2051551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B31FABF-28BD-8FE2-3FB3-6BE048D34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436" y="1990591"/>
            <a:ext cx="4556757" cy="2291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Processor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2 </a:t>
            </a:r>
            <a:r>
              <a:rPr lang="en-US" sz="1800" dirty="0" err="1">
                <a:latin typeface="+mn-lt"/>
              </a:rPr>
              <a:t>Ghz</a:t>
            </a:r>
            <a:r>
              <a:rPr lang="en-US" sz="1800" dirty="0">
                <a:latin typeface="+mn-lt"/>
              </a:rPr>
              <a:t> (0.5 ns per cycle)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b="1" dirty="0">
                <a:latin typeface="+mn-lt"/>
              </a:rPr>
              <a:t>Memory</a:t>
            </a:r>
            <a:r>
              <a:rPr lang="en-US" sz="1800" dirty="0">
                <a:latin typeface="+mn-lt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Memory Latency  = 10 ns (20 cycles)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n-lt"/>
              </a:rPr>
              <a:t>Bandwidth    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= 64 bits at 1 GHz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(64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+mn-lt"/>
              </a:rPr>
              <a:t>Gbits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/sec or  8 GB/sec) or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(64 bits in every 2 processor cycles)</a:t>
            </a: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4E2D9-D75D-BDDA-B7EB-35A9F3192498}"/>
              </a:ext>
            </a:extLst>
          </p:cNvPr>
          <p:cNvSpPr txBox="1"/>
          <p:nvPr/>
        </p:nvSpPr>
        <p:spPr>
          <a:xfrm>
            <a:off x="2391974" y="5347121"/>
            <a:ext cx="6013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Can you calculate the Sustained Performance (worst case) in GFLOPs for the entire matrix?</a:t>
            </a:r>
          </a:p>
        </p:txBody>
      </p:sp>
    </p:spTree>
    <p:extLst>
      <p:ext uri="{BB962C8B-B14F-4D97-AF65-F5344CB8AC3E}">
        <p14:creationId xmlns:p14="http://schemas.microsoft.com/office/powerpoint/2010/main" val="4293928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66E8-407B-253A-33A5-42289090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(Worst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3CB0C-BEDF-BA5F-DBAD-CF8CBD725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Fetch =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  <a:p>
                <a:endParaRPr lang="en-US" dirty="0"/>
              </a:p>
              <a:p>
                <a:r>
                  <a:rPr lang="en-US" dirty="0"/>
                  <a:t>Execute =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  <a:p>
                <a:endParaRPr lang="en-US" dirty="0"/>
              </a:p>
              <a:p>
                <a:r>
                  <a:rPr lang="en-US" dirty="0"/>
                  <a:t>Total time (per each loop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Number of Operations (per each loop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=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Performance: 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  <a:r>
                  <a:rPr lang="en-US" dirty="0"/>
                  <a:t> GFLOPs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3CB0C-BEDF-BA5F-DBAD-CF8CBD725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8984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66E8-407B-253A-33A5-42289090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(Worst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3CB0C-BEDF-BA5F-DBAD-CF8CBD725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Fetch = 10 ns</a:t>
                </a:r>
              </a:p>
              <a:p>
                <a:endParaRPr lang="en-US" dirty="0"/>
              </a:p>
              <a:p>
                <a:r>
                  <a:rPr lang="en-US" dirty="0"/>
                  <a:t>Execute = 0.5 ns</a:t>
                </a:r>
              </a:p>
              <a:p>
                <a:endParaRPr lang="en-US" dirty="0"/>
              </a:p>
              <a:p>
                <a:r>
                  <a:rPr lang="en-US" dirty="0"/>
                  <a:t>Total time (per each loop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4×10+2×0.5=41</m:t>
                    </m:r>
                  </m:oMath>
                </a14:m>
                <a:r>
                  <a:rPr lang="en-US" dirty="0"/>
                  <a:t> ns</a:t>
                </a:r>
              </a:p>
              <a:p>
                <a:endParaRPr lang="en-US" dirty="0"/>
              </a:p>
              <a:p>
                <a:r>
                  <a:rPr lang="en-US" dirty="0"/>
                  <a:t>Number of Operations (per each loop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= 2 </a:t>
                </a:r>
              </a:p>
              <a:p>
                <a:endParaRPr lang="en-US" dirty="0"/>
              </a:p>
              <a:p>
                <a:r>
                  <a:rPr lang="en-US" dirty="0"/>
                  <a:t>Performance:  2/41 ns = 0.048 GFLOPs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3CB0C-BEDF-BA5F-DBAD-CF8CBD725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227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02CD-64EC-3D33-A551-DA07366E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(Best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BD497-13FF-FD92-60A6-DE718D2BA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7885" cy="4351338"/>
          </a:xfrm>
        </p:spPr>
        <p:txBody>
          <a:bodyPr/>
          <a:lstStyle/>
          <a:p>
            <a:r>
              <a:rPr lang="en-US" dirty="0"/>
              <a:t>In Sustained Performance (worst case), we were fetching one word at a time.</a:t>
            </a:r>
          </a:p>
          <a:p>
            <a:pPr lvl="1"/>
            <a:r>
              <a:rPr lang="en-US" dirty="0"/>
              <a:t>Separate fetch instructions</a:t>
            </a:r>
          </a:p>
          <a:p>
            <a:pPr lvl="1"/>
            <a:r>
              <a:rPr lang="en-US" dirty="0"/>
              <a:t>Each instruction incurring latency</a:t>
            </a:r>
          </a:p>
          <a:p>
            <a:endParaRPr lang="en-US" dirty="0"/>
          </a:p>
          <a:p>
            <a:r>
              <a:rPr lang="en-US" dirty="0"/>
              <a:t>Sustained Performance (best case): Assume data is contiguously stored</a:t>
            </a:r>
          </a:p>
          <a:p>
            <a:pPr lvl="1"/>
            <a:r>
              <a:rPr lang="en-US" dirty="0"/>
              <a:t>Single fetch can be performed</a:t>
            </a:r>
          </a:p>
          <a:p>
            <a:pPr lvl="1"/>
            <a:r>
              <a:rPr lang="en-US" dirty="0"/>
              <a:t>Assume latency is 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0AE54-6F10-7338-DEBE-1F76D4681BCF}"/>
              </a:ext>
            </a:extLst>
          </p:cNvPr>
          <p:cNvSpPr txBox="1"/>
          <p:nvPr/>
        </p:nvSpPr>
        <p:spPr>
          <a:xfrm>
            <a:off x="9764871" y="300941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16E6E2-A07E-1B5F-0EC4-24650E26690D}"/>
              </a:ext>
            </a:extLst>
          </p:cNvPr>
          <p:cNvSpPr/>
          <p:nvPr/>
        </p:nvSpPr>
        <p:spPr>
          <a:xfrm>
            <a:off x="9212619" y="3454943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3EC107-8889-DB82-A176-BC72D9A25D21}"/>
              </a:ext>
            </a:extLst>
          </p:cNvPr>
          <p:cNvCxnSpPr>
            <a:endCxn id="5" idx="0"/>
          </p:cNvCxnSpPr>
          <p:nvPr/>
        </p:nvCxnSpPr>
        <p:spPr>
          <a:xfrm>
            <a:off x="9592924" y="2845343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3C2235-934F-28AF-A6DB-F663A188490C}"/>
              </a:ext>
            </a:extLst>
          </p:cNvPr>
          <p:cNvCxnSpPr/>
          <p:nvPr/>
        </p:nvCxnSpPr>
        <p:spPr>
          <a:xfrm flipV="1">
            <a:off x="9460071" y="3073943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0425A05-5006-02D9-E78E-7B0A1CB49B24}"/>
              </a:ext>
            </a:extLst>
          </p:cNvPr>
          <p:cNvSpPr/>
          <p:nvPr/>
        </p:nvSpPr>
        <p:spPr>
          <a:xfrm>
            <a:off x="8860939" y="2311943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</p:spTree>
    <p:extLst>
      <p:ext uri="{BB962C8B-B14F-4D97-AF65-F5344CB8AC3E}">
        <p14:creationId xmlns:p14="http://schemas.microsoft.com/office/powerpoint/2010/main" val="36351171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44BE-093F-C5C3-4756-B924E939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(Best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B4CB4-9427-3FA3-5CF4-14B2ADD93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How can the latency be 0?</a:t>
            </a:r>
          </a:p>
          <a:p>
            <a:endParaRPr lang="en-US" dirty="0"/>
          </a:p>
          <a:p>
            <a:r>
              <a:rPr lang="en-US" dirty="0"/>
              <a:t>Data prefetching: Processor initiates data transfer request way before the data is actually needed</a:t>
            </a:r>
          </a:p>
          <a:p>
            <a:endParaRPr lang="en-US" dirty="0"/>
          </a:p>
          <a:p>
            <a:r>
              <a:rPr lang="en-US" dirty="0"/>
              <a:t>Predicting data prefetching parameters using ML is a hot research topic: </a:t>
            </a:r>
            <a:r>
              <a:rPr lang="en-US" dirty="0">
                <a:hlinkClick r:id="rId2"/>
              </a:rPr>
              <a:t>https://scholar.google.com/scholar?as_ylo=2018&amp;q=data+prefetching+machine+learning&amp;hl=en&amp;as_sdt=0,36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We will not cover in this class</a:t>
            </a:r>
          </a:p>
        </p:txBody>
      </p:sp>
    </p:spTree>
    <p:extLst>
      <p:ext uri="{BB962C8B-B14F-4D97-AF65-F5344CB8AC3E}">
        <p14:creationId xmlns:p14="http://schemas.microsoft.com/office/powerpoint/2010/main" val="21269302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50A-3D02-E9B9-BBF9-F34054DF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(Best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Each fetch takes: Latency (=0) + data size/bandwidth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b="1" dirty="0"/>
                  <a:t> data size/bandwidth</a:t>
                </a:r>
              </a:p>
              <a:p>
                <a:endParaRPr lang="en-US" dirty="0"/>
              </a:p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  <a:blipFill>
                <a:blip r:embed="rId2"/>
                <a:stretch>
                  <a:fillRect l="-1043" t="-2516" b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73819B7-0A4A-AA85-7523-61C158DC7D46}"/>
              </a:ext>
            </a:extLst>
          </p:cNvPr>
          <p:cNvSpPr txBox="1"/>
          <p:nvPr/>
        </p:nvSpPr>
        <p:spPr>
          <a:xfrm>
            <a:off x="6340243" y="3796879"/>
            <a:ext cx="2918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Single Fetch at rate of bandwidth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BD130-D86B-F29A-1086-1E4FCD28BE41}"/>
              </a:ext>
            </a:extLst>
          </p:cNvPr>
          <p:cNvSpPr txBox="1"/>
          <p:nvPr/>
        </p:nvSpPr>
        <p:spPr>
          <a:xfrm>
            <a:off x="7872317" y="5275309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290CB-1D84-D09B-5791-D364C02DDC1F}"/>
              </a:ext>
            </a:extLst>
          </p:cNvPr>
          <p:cNvSpPr txBox="1"/>
          <p:nvPr/>
        </p:nvSpPr>
        <p:spPr>
          <a:xfrm>
            <a:off x="6340242" y="6123543"/>
            <a:ext cx="2670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Single Fetch at the rate of bandwidth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2A9132-D2E3-2669-C643-A149A3FBC951}"/>
              </a:ext>
            </a:extLst>
          </p:cNvPr>
          <p:cNvCxnSpPr>
            <a:cxnSpLocks/>
            <a:endCxn id="18" idx="1"/>
          </p:cNvCxnSpPr>
          <p:nvPr/>
        </p:nvCxnSpPr>
        <p:spPr>
          <a:xfrm flipH="1">
            <a:off x="3512265" y="4003307"/>
            <a:ext cx="2785589" cy="5659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40833A-2553-737C-BC69-6B8CACF2A8DF}"/>
              </a:ext>
            </a:extLst>
          </p:cNvPr>
          <p:cNvCxnSpPr>
            <a:cxnSpLocks/>
          </p:cNvCxnSpPr>
          <p:nvPr/>
        </p:nvCxnSpPr>
        <p:spPr>
          <a:xfrm flipH="1">
            <a:off x="4747614" y="5459975"/>
            <a:ext cx="32851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349C69-E0B5-24B5-7F19-A44644DE64A8}"/>
              </a:ext>
            </a:extLst>
          </p:cNvPr>
          <p:cNvCxnSpPr>
            <a:cxnSpLocks/>
          </p:cNvCxnSpPr>
          <p:nvPr/>
        </p:nvCxnSpPr>
        <p:spPr>
          <a:xfrm flipH="1">
            <a:off x="4747613" y="5827747"/>
            <a:ext cx="328517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00AB96-12CB-99DC-ABA5-0CA79D94B0FF}"/>
              </a:ext>
            </a:extLst>
          </p:cNvPr>
          <p:cNvSpPr txBox="1"/>
          <p:nvPr/>
        </p:nvSpPr>
        <p:spPr>
          <a:xfrm>
            <a:off x="7884177" y="5643861"/>
            <a:ext cx="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17C88B-9A12-E4FD-C8E1-6359FBA67AE8}"/>
              </a:ext>
            </a:extLst>
          </p:cNvPr>
          <p:cNvCxnSpPr>
            <a:cxnSpLocks/>
          </p:cNvCxnSpPr>
          <p:nvPr/>
        </p:nvCxnSpPr>
        <p:spPr>
          <a:xfrm flipH="1">
            <a:off x="3055064" y="6355596"/>
            <a:ext cx="328517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0B8DA612-EA89-3AB8-5FDB-F9578C529E11}"/>
              </a:ext>
            </a:extLst>
          </p:cNvPr>
          <p:cNvSpPr/>
          <p:nvPr/>
        </p:nvSpPr>
        <p:spPr>
          <a:xfrm>
            <a:off x="3148927" y="4003307"/>
            <a:ext cx="363338" cy="1131864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161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50A-3D02-E9B9-BBF9-F34054DF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(Best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Each fetch takes: Latency (=0) + data size/bandwidth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b="1" dirty="0"/>
                  <a:t> data size/bandwidth</a:t>
                </a:r>
              </a:p>
              <a:p>
                <a:endParaRPr lang="en-US" dirty="0"/>
              </a:p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  <a:blipFill>
                <a:blip r:embed="rId2"/>
                <a:stretch>
                  <a:fillRect l="-1043" t="-2516" b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73819B7-0A4A-AA85-7523-61C158DC7D46}"/>
              </a:ext>
            </a:extLst>
          </p:cNvPr>
          <p:cNvSpPr txBox="1"/>
          <p:nvPr/>
        </p:nvSpPr>
        <p:spPr>
          <a:xfrm>
            <a:off x="6340243" y="3796879"/>
            <a:ext cx="291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Time in ns??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BD130-D86B-F29A-1086-1E4FCD28BE41}"/>
              </a:ext>
            </a:extLst>
          </p:cNvPr>
          <p:cNvSpPr txBox="1"/>
          <p:nvPr/>
        </p:nvSpPr>
        <p:spPr>
          <a:xfrm>
            <a:off x="7872317" y="5275309"/>
            <a:ext cx="180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Time in ns??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290CB-1D84-D09B-5791-D364C02DDC1F}"/>
              </a:ext>
            </a:extLst>
          </p:cNvPr>
          <p:cNvSpPr txBox="1"/>
          <p:nvPr/>
        </p:nvSpPr>
        <p:spPr>
          <a:xfrm>
            <a:off x="6340242" y="6123543"/>
            <a:ext cx="267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Time in ns??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2A9132-D2E3-2669-C643-A149A3FBC951}"/>
              </a:ext>
            </a:extLst>
          </p:cNvPr>
          <p:cNvCxnSpPr>
            <a:cxnSpLocks/>
          </p:cNvCxnSpPr>
          <p:nvPr/>
        </p:nvCxnSpPr>
        <p:spPr>
          <a:xfrm flipH="1">
            <a:off x="3197372" y="4003307"/>
            <a:ext cx="3100482" cy="7213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40833A-2553-737C-BC69-6B8CACF2A8DF}"/>
              </a:ext>
            </a:extLst>
          </p:cNvPr>
          <p:cNvCxnSpPr>
            <a:cxnSpLocks/>
          </p:cNvCxnSpPr>
          <p:nvPr/>
        </p:nvCxnSpPr>
        <p:spPr>
          <a:xfrm flipH="1">
            <a:off x="4747614" y="5459975"/>
            <a:ext cx="32851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349C69-E0B5-24B5-7F19-A44644DE64A8}"/>
              </a:ext>
            </a:extLst>
          </p:cNvPr>
          <p:cNvCxnSpPr>
            <a:cxnSpLocks/>
          </p:cNvCxnSpPr>
          <p:nvPr/>
        </p:nvCxnSpPr>
        <p:spPr>
          <a:xfrm flipH="1">
            <a:off x="4747613" y="5827747"/>
            <a:ext cx="328517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00AB96-12CB-99DC-ABA5-0CA79D94B0FF}"/>
              </a:ext>
            </a:extLst>
          </p:cNvPr>
          <p:cNvSpPr txBox="1"/>
          <p:nvPr/>
        </p:nvSpPr>
        <p:spPr>
          <a:xfrm>
            <a:off x="7884177" y="5643861"/>
            <a:ext cx="180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Time in ns??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17C88B-9A12-E4FD-C8E1-6359FBA67AE8}"/>
              </a:ext>
            </a:extLst>
          </p:cNvPr>
          <p:cNvCxnSpPr>
            <a:cxnSpLocks/>
          </p:cNvCxnSpPr>
          <p:nvPr/>
        </p:nvCxnSpPr>
        <p:spPr>
          <a:xfrm flipH="1">
            <a:off x="3055064" y="6355596"/>
            <a:ext cx="328517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3542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ACD9-5C3C-BEFD-AD94-769EF854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(Best Case)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CFDEB-B3F7-1D55-0811-CFF73B947220}"/>
              </a:ext>
            </a:extLst>
          </p:cNvPr>
          <p:cNvSpPr txBox="1"/>
          <p:nvPr/>
        </p:nvSpPr>
        <p:spPr>
          <a:xfrm>
            <a:off x="3951467" y="27490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87CD84-EC0D-B996-D39D-4B5C6D325221}"/>
              </a:ext>
            </a:extLst>
          </p:cNvPr>
          <p:cNvSpPr/>
          <p:nvPr/>
        </p:nvSpPr>
        <p:spPr>
          <a:xfrm>
            <a:off x="3399215" y="3194551"/>
            <a:ext cx="760610" cy="729734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77B04F-14FE-1A6E-F7E9-304FEC710E7A}"/>
              </a:ext>
            </a:extLst>
          </p:cNvPr>
          <p:cNvCxnSpPr>
            <a:endCxn id="5" idx="0"/>
          </p:cNvCxnSpPr>
          <p:nvPr/>
        </p:nvCxnSpPr>
        <p:spPr>
          <a:xfrm>
            <a:off x="3779520" y="2584951"/>
            <a:ext cx="0" cy="60960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4EB695-BA45-38C5-A78C-01E28B531793}"/>
              </a:ext>
            </a:extLst>
          </p:cNvPr>
          <p:cNvCxnSpPr/>
          <p:nvPr/>
        </p:nvCxnSpPr>
        <p:spPr>
          <a:xfrm flipV="1">
            <a:off x="3646667" y="2813551"/>
            <a:ext cx="286643" cy="184666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C80DB11-A117-C1E7-F3A5-148ACA31403B}"/>
              </a:ext>
            </a:extLst>
          </p:cNvPr>
          <p:cNvSpPr/>
          <p:nvPr/>
        </p:nvSpPr>
        <p:spPr>
          <a:xfrm>
            <a:off x="3047535" y="2051551"/>
            <a:ext cx="1484906" cy="5334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 (DRAM)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B31FABF-28BD-8FE2-3FB3-6BE048D34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436" y="1990591"/>
            <a:ext cx="4556757" cy="2291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Processor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2 </a:t>
            </a:r>
            <a:r>
              <a:rPr lang="en-US" sz="1800" dirty="0" err="1">
                <a:latin typeface="+mn-lt"/>
              </a:rPr>
              <a:t>Ghz</a:t>
            </a:r>
            <a:r>
              <a:rPr lang="en-US" sz="1800" dirty="0">
                <a:latin typeface="+mn-lt"/>
              </a:rPr>
              <a:t> (0.5 ns per cycle)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b="1" dirty="0">
                <a:latin typeface="+mn-lt"/>
              </a:rPr>
              <a:t>Memory</a:t>
            </a:r>
            <a:r>
              <a:rPr lang="en-US" sz="1800" dirty="0">
                <a:latin typeface="+mn-lt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Memory Latency  = 10 ns (20 cycles)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n-lt"/>
              </a:rPr>
              <a:t>Bandwidth    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= 64 bits at 1 GHz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(64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+mn-lt"/>
              </a:rPr>
              <a:t>Gbits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/sec or  8 GB/sec) or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(64 bits in every 2 processor cycles)</a:t>
            </a: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4E2D9-D75D-BDDA-B7EB-35A9F3192498}"/>
              </a:ext>
            </a:extLst>
          </p:cNvPr>
          <p:cNvSpPr txBox="1"/>
          <p:nvPr/>
        </p:nvSpPr>
        <p:spPr>
          <a:xfrm>
            <a:off x="2391974" y="5347121"/>
            <a:ext cx="6013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Can you calculate the Sustained Performance (best case) in GFLOPs for the entire matrix?</a:t>
            </a:r>
          </a:p>
        </p:txBody>
      </p:sp>
    </p:spTree>
    <p:extLst>
      <p:ext uri="{BB962C8B-B14F-4D97-AF65-F5344CB8AC3E}">
        <p14:creationId xmlns:p14="http://schemas.microsoft.com/office/powerpoint/2010/main" val="4684281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50A-3D02-E9B9-BBF9-F34054DF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(Worst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Each fetch takes: Latency (=0) + data size/bandwidth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b="1" dirty="0"/>
                  <a:t> data size/bandwidth</a:t>
                </a:r>
              </a:p>
              <a:p>
                <a:endParaRPr lang="en-US" dirty="0"/>
              </a:p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RA: Read A[</a:t>
                </a:r>
                <a:r>
                  <a:rPr lang="en-US" dirty="0" err="1"/>
                  <a:t>i</a:t>
                </a:r>
                <a:r>
                  <a:rPr lang="en-US" dirty="0"/>
                  <a:t>][k]</a:t>
                </a:r>
              </a:p>
              <a:p>
                <a:pPr marL="0" indent="0">
                  <a:buNone/>
                </a:pPr>
                <a:r>
                  <a:rPr lang="en-US" dirty="0"/>
                  <a:t>RB: Read B[k]</a:t>
                </a:r>
              </a:p>
              <a:p>
                <a:pPr marL="0" indent="0">
                  <a:buNone/>
                </a:pPr>
                <a:r>
                  <a:rPr lang="en-US" dirty="0"/>
                  <a:t>RC: Read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M: Res &lt;- </a:t>
                </a:r>
                <a:r>
                  <a:rPr lang="en-US" dirty="0" err="1"/>
                  <a:t>Mult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][k]*B[k]</a:t>
                </a:r>
              </a:p>
              <a:p>
                <a:pPr marL="0" indent="0">
                  <a:buNone/>
                </a:pPr>
                <a:r>
                  <a:rPr lang="en-US" dirty="0"/>
                  <a:t>A: Add C[</a:t>
                </a:r>
                <a:r>
                  <a:rPr lang="en-US" dirty="0" err="1"/>
                  <a:t>i</a:t>
                </a:r>
                <a:r>
                  <a:rPr lang="en-US" dirty="0"/>
                  <a:t>] + Res</a:t>
                </a:r>
              </a:p>
              <a:p>
                <a:pPr marL="0" indent="0">
                  <a:buNone/>
                </a:pPr>
                <a:r>
                  <a:rPr lang="en-US" dirty="0"/>
                  <a:t>S: Store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F04C5-76C6-2D34-91B4-ADA7DBF9F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41623"/>
              </a:xfrm>
              <a:blipFill>
                <a:blip r:embed="rId2"/>
                <a:stretch>
                  <a:fillRect l="-1043" t="-2516" b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73819B7-0A4A-AA85-7523-61C158DC7D46}"/>
              </a:ext>
            </a:extLst>
          </p:cNvPr>
          <p:cNvSpPr txBox="1"/>
          <p:nvPr/>
        </p:nvSpPr>
        <p:spPr>
          <a:xfrm>
            <a:off x="6340243" y="3796879"/>
            <a:ext cx="291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 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BD130-D86B-F29A-1086-1E4FCD28BE41}"/>
              </a:ext>
            </a:extLst>
          </p:cNvPr>
          <p:cNvSpPr txBox="1"/>
          <p:nvPr/>
        </p:nvSpPr>
        <p:spPr>
          <a:xfrm>
            <a:off x="7872317" y="5275309"/>
            <a:ext cx="180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0.5 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290CB-1D84-D09B-5791-D364C02DDC1F}"/>
              </a:ext>
            </a:extLst>
          </p:cNvPr>
          <p:cNvSpPr txBox="1"/>
          <p:nvPr/>
        </p:nvSpPr>
        <p:spPr>
          <a:xfrm>
            <a:off x="6340242" y="6123543"/>
            <a:ext cx="267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 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2A9132-D2E3-2669-C643-A149A3FBC951}"/>
              </a:ext>
            </a:extLst>
          </p:cNvPr>
          <p:cNvCxnSpPr>
            <a:cxnSpLocks/>
          </p:cNvCxnSpPr>
          <p:nvPr/>
        </p:nvCxnSpPr>
        <p:spPr>
          <a:xfrm flipH="1">
            <a:off x="3512265" y="4003307"/>
            <a:ext cx="2785589" cy="5686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40833A-2553-737C-BC69-6B8CACF2A8DF}"/>
              </a:ext>
            </a:extLst>
          </p:cNvPr>
          <p:cNvCxnSpPr>
            <a:cxnSpLocks/>
          </p:cNvCxnSpPr>
          <p:nvPr/>
        </p:nvCxnSpPr>
        <p:spPr>
          <a:xfrm flipH="1">
            <a:off x="4747614" y="5459975"/>
            <a:ext cx="32851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349C69-E0B5-24B5-7F19-A44644DE64A8}"/>
              </a:ext>
            </a:extLst>
          </p:cNvPr>
          <p:cNvCxnSpPr>
            <a:cxnSpLocks/>
          </p:cNvCxnSpPr>
          <p:nvPr/>
        </p:nvCxnSpPr>
        <p:spPr>
          <a:xfrm flipH="1">
            <a:off x="4747613" y="5827747"/>
            <a:ext cx="328517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00AB96-12CB-99DC-ABA5-0CA79D94B0FF}"/>
              </a:ext>
            </a:extLst>
          </p:cNvPr>
          <p:cNvSpPr txBox="1"/>
          <p:nvPr/>
        </p:nvSpPr>
        <p:spPr>
          <a:xfrm>
            <a:off x="7884177" y="5643861"/>
            <a:ext cx="180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0.5 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17C88B-9A12-E4FD-C8E1-6359FBA67AE8}"/>
              </a:ext>
            </a:extLst>
          </p:cNvPr>
          <p:cNvCxnSpPr>
            <a:cxnSpLocks/>
          </p:cNvCxnSpPr>
          <p:nvPr/>
        </p:nvCxnSpPr>
        <p:spPr>
          <a:xfrm flipH="1">
            <a:off x="3055064" y="6355596"/>
            <a:ext cx="328517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ight Brace 4">
            <a:extLst>
              <a:ext uri="{FF2B5EF4-FFF2-40B4-BE49-F238E27FC236}">
                <a16:creationId xmlns:a16="http://schemas.microsoft.com/office/drawing/2014/main" id="{ED83D8DD-80ED-257D-B8B8-9485C37B9467}"/>
              </a:ext>
            </a:extLst>
          </p:cNvPr>
          <p:cNvSpPr/>
          <p:nvPr/>
        </p:nvSpPr>
        <p:spPr>
          <a:xfrm>
            <a:off x="3148927" y="4003307"/>
            <a:ext cx="363338" cy="1131864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848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66E8-407B-253A-33A5-42289090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 Modeling: Sustained Performance (Best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3CB0C-BEDF-BA5F-DBAD-CF8CBD725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Total time (per loop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ns</a:t>
                </a:r>
              </a:p>
              <a:p>
                <a:endParaRPr lang="en-US" dirty="0"/>
              </a:p>
              <a:p>
                <a:r>
                  <a:rPr lang="en-US" dirty="0"/>
                  <a:t>Number of Operations (per loop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= 2 </a:t>
                </a:r>
              </a:p>
              <a:p>
                <a:endParaRPr lang="en-US" dirty="0"/>
              </a:p>
              <a:p>
                <a:r>
                  <a:rPr lang="en-US" dirty="0"/>
                  <a:t>Performance:  2/5 ns = 0.4 GFLOPs</a:t>
                </a:r>
              </a:p>
              <a:p>
                <a:endParaRPr lang="en-US" dirty="0"/>
              </a:p>
              <a:p>
                <a:r>
                  <a:rPr lang="en-US" dirty="0"/>
                  <a:t>Notes</a:t>
                </a:r>
              </a:p>
              <a:p>
                <a:pPr lvl="1"/>
                <a:r>
                  <a:rPr lang="en-US" dirty="0"/>
                  <a:t>Again we assumed no limit on local memory of processor</a:t>
                </a:r>
              </a:p>
              <a:p>
                <a:pPr lvl="1"/>
                <a:r>
                  <a:rPr lang="en-US" dirty="0"/>
                  <a:t>Also, note how we reordered the read instructions to maximize bandwidth use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3CB0C-BEDF-BA5F-DBAD-CF8CBD725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b="-2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1439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A8EF-523A-6851-19AD-16C8624F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90E1C5-7C29-CD96-BC9C-46BA4EDED6CF}"/>
              </a:ext>
            </a:extLst>
          </p:cNvPr>
          <p:cNvCxnSpPr/>
          <p:nvPr/>
        </p:nvCxnSpPr>
        <p:spPr>
          <a:xfrm>
            <a:off x="1866900" y="3337560"/>
            <a:ext cx="74295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7E27AEA-CCAA-AE4B-A660-B981F5F6AEAA}"/>
              </a:ext>
            </a:extLst>
          </p:cNvPr>
          <p:cNvSpPr txBox="1"/>
          <p:nvPr/>
        </p:nvSpPr>
        <p:spPr>
          <a:xfrm>
            <a:off x="8877300" y="3649980"/>
            <a:ext cx="113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</a:t>
            </a:r>
            <a:r>
              <a:rPr lang="en-US" dirty="0" err="1"/>
              <a:t>Gflops</a:t>
            </a:r>
            <a:r>
              <a:rPr lang="en-US" dirty="0"/>
              <a:t>/s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49374-46BF-5574-2F7C-CCAEC0F00062}"/>
              </a:ext>
            </a:extLst>
          </p:cNvPr>
          <p:cNvSpPr txBox="1"/>
          <p:nvPr/>
        </p:nvSpPr>
        <p:spPr>
          <a:xfrm>
            <a:off x="4928650" y="3587617"/>
            <a:ext cx="1306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0.4 </a:t>
            </a:r>
            <a:r>
              <a:rPr lang="en-US" dirty="0" err="1"/>
              <a:t>Gflops</a:t>
            </a:r>
            <a:r>
              <a:rPr lang="en-US" dirty="0"/>
              <a:t>/s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955C0-9E72-D5C8-A81B-3ACA748F3CC1}"/>
              </a:ext>
            </a:extLst>
          </p:cNvPr>
          <p:cNvSpPr txBox="1"/>
          <p:nvPr/>
        </p:nvSpPr>
        <p:spPr>
          <a:xfrm>
            <a:off x="1219816" y="3567528"/>
            <a:ext cx="154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0.048 </a:t>
            </a:r>
            <a:r>
              <a:rPr lang="en-US" dirty="0" err="1"/>
              <a:t>Gflops</a:t>
            </a:r>
            <a:r>
              <a:rPr lang="en-US" dirty="0"/>
              <a:t>/s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F6B038-58DC-39B4-9805-6BDEAB704634}"/>
              </a:ext>
            </a:extLst>
          </p:cNvPr>
          <p:cNvSpPr txBox="1"/>
          <p:nvPr/>
        </p:nvSpPr>
        <p:spPr>
          <a:xfrm>
            <a:off x="670560" y="4338102"/>
            <a:ext cx="2198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Sustained Worst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dominant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36B292-5998-B5FF-88E4-681A52429C7C}"/>
              </a:ext>
            </a:extLst>
          </p:cNvPr>
          <p:cNvSpPr txBox="1"/>
          <p:nvPr/>
        </p:nvSpPr>
        <p:spPr>
          <a:xfrm>
            <a:off x="4099560" y="4331731"/>
            <a:ext cx="3307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Sustained Best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Hidden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bandwidth dominant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847D6E-6489-50C6-A0C1-8E2CD45AFEB5}"/>
              </a:ext>
            </a:extLst>
          </p:cNvPr>
          <p:cNvSpPr txBox="1"/>
          <p:nvPr/>
        </p:nvSpPr>
        <p:spPr>
          <a:xfrm>
            <a:off x="8213483" y="4338102"/>
            <a:ext cx="1888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Peak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Only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D0FDCC-78AE-6090-F329-A28584B93EA8}"/>
              </a:ext>
            </a:extLst>
          </p:cNvPr>
          <p:cNvCxnSpPr/>
          <p:nvPr/>
        </p:nvCxnSpPr>
        <p:spPr>
          <a:xfrm>
            <a:off x="5536228" y="1805942"/>
            <a:ext cx="0" cy="6553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59F030C-1D39-3844-BF9B-24A8406F0185}"/>
              </a:ext>
            </a:extLst>
          </p:cNvPr>
          <p:cNvSpPr txBox="1"/>
          <p:nvPr/>
        </p:nvSpPr>
        <p:spPr>
          <a:xfrm>
            <a:off x="5753538" y="1948936"/>
            <a:ext cx="2757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System Performance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51C66A-BA29-24AF-318C-9CA4E848A082}"/>
              </a:ext>
            </a:extLst>
          </p:cNvPr>
          <p:cNvSpPr txBox="1"/>
          <p:nvPr/>
        </p:nvSpPr>
        <p:spPr>
          <a:xfrm>
            <a:off x="2010160" y="2754662"/>
            <a:ext cx="2794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Latency Hiding Mechanisms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CFCEC8-9C5C-2840-3690-2AC6299D0BAD}"/>
              </a:ext>
            </a:extLst>
          </p:cNvPr>
          <p:cNvSpPr txBox="1"/>
          <p:nvPr/>
        </p:nvSpPr>
        <p:spPr>
          <a:xfrm>
            <a:off x="5753538" y="2754662"/>
            <a:ext cx="3020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Efficient Bandwidth Utilization</a:t>
            </a:r>
          </a:p>
        </p:txBody>
      </p:sp>
    </p:spTree>
    <p:extLst>
      <p:ext uri="{BB962C8B-B14F-4D97-AF65-F5344CB8AC3E}">
        <p14:creationId xmlns:p14="http://schemas.microsoft.com/office/powerpoint/2010/main" val="2767294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42AC-8AB2-3E33-7033-70490724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System: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F631E-D87B-0508-3314-81691552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model to perform “pen and paper” calculations to analyze an algorithm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Compare various algorithms in a similar spirit as complexity analysis</a:t>
            </a:r>
          </a:p>
          <a:p>
            <a:endParaRPr lang="en-US" dirty="0"/>
          </a:p>
          <a:p>
            <a:r>
              <a:rPr lang="en-US" dirty="0"/>
              <a:t>Get a mental model of the algorithm execution to potentially find better optimizations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581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42AC-8AB2-3E33-7033-70490724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System: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F631E-D87B-0508-3314-81691552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Ungraded HW assignment 1: Can you create a simple code to perform these calculations? (May help you in your assignments later)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281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9/2 Lecture 3 – Processor-Memory Architecture II</a:t>
            </a:r>
          </a:p>
          <a:p>
            <a:pPr lvl="1"/>
            <a:r>
              <a:rPr lang="en-US" dirty="0"/>
              <a:t>Memory Optimizations,</a:t>
            </a:r>
          </a:p>
          <a:p>
            <a:pPr lvl="1"/>
            <a:r>
              <a:rPr lang="en-US" dirty="0"/>
              <a:t>Processor Memory Architectures with Cache</a:t>
            </a:r>
          </a:p>
          <a:p>
            <a:pPr lvl="1"/>
            <a:r>
              <a:rPr lang="en-US" dirty="0"/>
              <a:t>Blocked Matrix Multiplication </a:t>
            </a:r>
          </a:p>
        </p:txBody>
      </p:sp>
    </p:spTree>
    <p:extLst>
      <p:ext uri="{BB962C8B-B14F-4D97-AF65-F5344CB8AC3E}">
        <p14:creationId xmlns:p14="http://schemas.microsoft.com/office/powerpoint/2010/main" val="21583037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89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3831</TotalTime>
  <Words>3395</Words>
  <Application>Microsoft Office PowerPoint</Application>
  <PresentationFormat>Widescreen</PresentationFormat>
  <Paragraphs>619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Outline</vt:lpstr>
      <vt:lpstr>Performance Modeling</vt:lpstr>
      <vt:lpstr>Why Performance Modeling?</vt:lpstr>
      <vt:lpstr>Why Performance Modeling?</vt:lpstr>
      <vt:lpstr>Why Performance Modeling?</vt:lpstr>
      <vt:lpstr>Parallel Algorithm Performance Modeling</vt:lpstr>
      <vt:lpstr>Targeted Platforms </vt:lpstr>
      <vt:lpstr>Why Performance Modeling?</vt:lpstr>
      <vt:lpstr>Outline</vt:lpstr>
      <vt:lpstr>Basic Execution Model Fetch-Execute</vt:lpstr>
      <vt:lpstr>Basic Execution Model Calculating Algorithm Performance</vt:lpstr>
      <vt:lpstr>Basic Execution Model Calculating Algorithm Performance</vt:lpstr>
      <vt:lpstr>Matrix Vector Multiplication</vt:lpstr>
      <vt:lpstr>Basic Execution Model Calculating Algorithm Performance</vt:lpstr>
      <vt:lpstr>Basic Execution Model Calculating Algorithm Performance</vt:lpstr>
      <vt:lpstr>Basic Execution Model Calculating Algorithm Performance</vt:lpstr>
      <vt:lpstr>Basic Execution Model</vt:lpstr>
      <vt:lpstr>Basic Execution Model Calculating Algorithm Performance</vt:lpstr>
      <vt:lpstr>Basic Execution Model Calculating Algorithm Performance</vt:lpstr>
      <vt:lpstr>Basic Execution Model</vt:lpstr>
      <vt:lpstr>Basic Execution Model</vt:lpstr>
      <vt:lpstr>Basic Execution Model: Limitations</vt:lpstr>
      <vt:lpstr>Basic Execution Model: Uses</vt:lpstr>
      <vt:lpstr>Outline</vt:lpstr>
      <vt:lpstr>Memory System</vt:lpstr>
      <vt:lpstr>Memory System</vt:lpstr>
      <vt:lpstr>Memory System</vt:lpstr>
      <vt:lpstr>Memory System</vt:lpstr>
      <vt:lpstr>Memory System</vt:lpstr>
      <vt:lpstr>Memory System</vt:lpstr>
      <vt:lpstr>Memory System</vt:lpstr>
      <vt:lpstr>Memory System</vt:lpstr>
      <vt:lpstr>Memory System</vt:lpstr>
      <vt:lpstr>Memory System</vt:lpstr>
      <vt:lpstr>Memory System</vt:lpstr>
      <vt:lpstr>Memory System</vt:lpstr>
      <vt:lpstr>Memory System: Modeling</vt:lpstr>
      <vt:lpstr>System Performance Metric</vt:lpstr>
      <vt:lpstr>System Performance Metric</vt:lpstr>
      <vt:lpstr>System Performance Metric</vt:lpstr>
      <vt:lpstr>System Performance Metric</vt:lpstr>
      <vt:lpstr>System Performance Metric</vt:lpstr>
      <vt:lpstr>Memory System Modeling</vt:lpstr>
      <vt:lpstr>Memory System Modeling</vt:lpstr>
      <vt:lpstr>Memory System Modeling: Peak Performance</vt:lpstr>
      <vt:lpstr>Memory System Modeling: Peak Performance</vt:lpstr>
      <vt:lpstr>Memory System Modeling: Sustained Performance (Worst Case)</vt:lpstr>
      <vt:lpstr>Memory System Modeling: Sustained Performance (Worst Case)</vt:lpstr>
      <vt:lpstr>Memory System Modeling: Sustained Performance (Worst Case)</vt:lpstr>
      <vt:lpstr>Memory System Modeling: Sustained Performance (Worst Case)</vt:lpstr>
      <vt:lpstr>Memory System Modeling: Sustained Performance (Worst Case)</vt:lpstr>
      <vt:lpstr>Memory System Modeling: Sustained Performance (Best Case)</vt:lpstr>
      <vt:lpstr>Memory System Modeling: Sustained Performance (Best Case)</vt:lpstr>
      <vt:lpstr>Memory System Modeling: Sustained Performance (Best Case)</vt:lpstr>
      <vt:lpstr>Memory System Modeling: Sustained Performance (Best Case)</vt:lpstr>
      <vt:lpstr>Memory System Modeling: Sustained Performance (Best Case)</vt:lpstr>
      <vt:lpstr>Memory System Modeling: Sustained Performance (Worst Case)</vt:lpstr>
      <vt:lpstr>Memory System Modeling: Sustained Performance (Best Case)</vt:lpstr>
      <vt:lpstr>System Performance Metrics</vt:lpstr>
      <vt:lpstr>Memory System: Conclusion</vt:lpstr>
      <vt:lpstr>Memory System: Conclusion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2025-08-28T16:33:17Z</dcterms:modified>
</cp:coreProperties>
</file>